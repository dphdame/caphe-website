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3080"/>
                </a:solidFill>
              </a:defRPr>
            </a:pPr>
            <a:r>
              <a:t>CAPHE</a:t>
            </a:r>
          </a:p>
          <a:p>
            <a:pPr algn="ctr">
              <a:defRPr sz="2400">
                <a:solidFill>
                  <a:srgbClr val="1C1C1C"/>
                </a:solidFill>
              </a:defRPr>
            </a:pPr>
            <a:r>
              <a:t>California Association of Public Health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A770D"/>
                </a:solidFill>
              </a:defRPr>
            </a:pPr>
            <a:r>
              <a:t>Member Meeting</a:t>
            </a:r>
          </a:p>
          <a:p>
            <a:pPr algn="ctr">
              <a:defRPr sz="2800">
                <a:solidFill>
                  <a:srgbClr val="1C1C1C"/>
                </a:solidFill>
              </a:defRPr>
            </a:pPr>
            <a:r>
              <a:t>January 28,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C1C1C"/>
                </a:solidFill>
              </a:defRPr>
            </a:pPr>
            <a:r>
              <a:t>1.  New Website Demo</a:t>
            </a:r>
          </a:p>
          <a:p>
            <a:pPr>
              <a:spcAft>
                <a:spcPts val="800"/>
              </a:spcAft>
              <a:defRPr sz="2400" b="0">
                <a:solidFill>
                  <a:srgbClr val="1C1C1C"/>
                </a:solidFill>
              </a:defRPr>
            </a:pPr>
            <a:r>
              <a:t>2.  Methods Lab Overview &amp; New Lab Ideas</a:t>
            </a:r>
          </a:p>
          <a:p>
            <a:pPr>
              <a:spcAft>
                <a:spcPts val="800"/>
              </a:spcAft>
              <a:defRPr sz="2400" b="1">
                <a:solidFill>
                  <a:srgbClr val="003080"/>
                </a:solidFill>
              </a:defRPr>
            </a:pPr>
            <a:r>
              <a:t>3.  Announcements</a:t>
            </a:r>
          </a:p>
          <a:p>
            <a:pPr>
              <a:spcAft>
                <a:spcPts val="800"/>
              </a:spcAft>
              <a:defRPr sz="2000" b="0">
                <a:solidFill>
                  <a:srgbClr val="1C1C1C"/>
                </a:solidFill>
              </a:defRPr>
            </a:pPr>
            <a:r>
              <a:t>   • Feb 12 Webinar: Introduction to Health Economics</a:t>
            </a:r>
          </a:p>
          <a:p>
            <a:pPr>
              <a:spcAft>
                <a:spcPts val="800"/>
              </a:spcAft>
              <a:defRPr sz="2000" b="0">
                <a:solidFill>
                  <a:srgbClr val="1C1C1C"/>
                </a:solidFill>
              </a:defRPr>
            </a:pPr>
            <a:r>
              <a:t>   • March 25: Tim Brown on Public Health ROI</a:t>
            </a:r>
          </a:p>
          <a:p>
            <a:pPr>
              <a:spcAft>
                <a:spcPts val="800"/>
              </a:spcAft>
              <a:defRPr sz="2000" b="0">
                <a:solidFill>
                  <a:srgbClr val="1C1C1C"/>
                </a:solidFill>
              </a:defRPr>
            </a:pPr>
            <a:r>
              <a:t>   • Webinar topic ideas for fall</a:t>
            </a:r>
          </a:p>
          <a:p>
            <a:pPr>
              <a:spcAft>
                <a:spcPts val="800"/>
              </a:spcAft>
              <a:defRPr sz="2400" b="1">
                <a:solidFill>
                  <a:srgbClr val="003080"/>
                </a:solidFill>
              </a:defRPr>
            </a:pPr>
            <a:r>
              <a:t>4.  Organization Business</a:t>
            </a:r>
          </a:p>
          <a:p>
            <a:pPr>
              <a:spcAft>
                <a:spcPts val="800"/>
              </a:spcAft>
              <a:defRPr sz="2000" b="0">
                <a:solidFill>
                  <a:srgbClr val="1C1C1C"/>
                </a:solidFill>
              </a:defRPr>
            </a:pPr>
            <a:r>
              <a:t>   • Governance docs for review</a:t>
            </a:r>
          </a:p>
          <a:p>
            <a:pPr>
              <a:spcAft>
                <a:spcPts val="800"/>
              </a:spcAft>
              <a:defRPr sz="2000" b="0">
                <a:solidFill>
                  <a:srgbClr val="1C1C1C"/>
                </a:solidFill>
              </a:defRPr>
            </a:pPr>
            <a:r>
              <a:t>   • Letter to Erika Pan</a:t>
            </a:r>
          </a:p>
          <a:p>
            <a:pPr>
              <a:spcAft>
                <a:spcPts val="800"/>
              </a:spcAft>
              <a:defRPr sz="2400" b="0">
                <a:solidFill>
                  <a:srgbClr val="1C1C1C"/>
                </a:solidFill>
              </a:defRPr>
            </a:pPr>
            <a:r>
              <a:t>5.  Open Discussion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New Website: caphegroup.org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3080"/>
                </a:solidFill>
              </a:defRPr>
            </a:pPr>
            <a:r>
              <a:t>Public Pages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Programs &amp; webinars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Methods Lab (35 interactive labs!)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Membership information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003080"/>
                </a:solidFill>
              </a:defRPr>
            </a:pPr>
            <a:r>
              <a:t>Member Portal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Meeting recordings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Shared documents</a:t>
            </a:r>
          </a:p>
          <a:p>
            <a:pPr>
              <a:spcAft>
                <a:spcPts val="600"/>
              </a:spcAft>
              <a:defRPr sz="1800" b="0">
                <a:solidFill>
                  <a:srgbClr val="1C1C1C"/>
                </a:solidFill>
              </a:defRPr>
            </a:pPr>
            <a:r>
              <a:t>   • Peer review signup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004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A770D"/>
                </a:solidFill>
              </a:defRPr>
            </a:pPr>
            <a:r>
              <a:t>caphegroup.org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Methods Lab: 35 Interactive Learning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080"/>
                </a:solidFill>
              </a:defRPr>
            </a:pPr>
            <a:r>
              <a:t>Topics Covered</a:t>
            </a:r>
          </a:p>
          <a:p>
            <a:pPr>
              <a:spcBef>
                <a:spcPts val="800"/>
              </a:spcBef>
              <a:defRPr sz="1800">
                <a:solidFill>
                  <a:srgbClr val="1C1C1C"/>
                </a:solidFill>
              </a:defRPr>
            </a:pPr>
            <a:r>
              <a:t>• Causal inference fundamentals</a:t>
            </a:r>
          </a:p>
          <a:p>
            <a:pPr>
              <a:spcBef>
                <a:spcPts val="800"/>
              </a:spcBef>
              <a:defRPr sz="1800">
                <a:solidFill>
                  <a:srgbClr val="1C1C1C"/>
                </a:solidFill>
              </a:defRPr>
            </a:pPr>
            <a:r>
              <a:t>• Threats to validity</a:t>
            </a:r>
          </a:p>
          <a:p>
            <a:pPr>
              <a:spcBef>
                <a:spcPts val="800"/>
              </a:spcBef>
              <a:defRPr sz="1800">
                <a:solidFill>
                  <a:srgbClr val="1C1C1C"/>
                </a:solidFill>
              </a:defRPr>
            </a:pPr>
            <a:r>
              <a:t>• Cost-effectiveness analysis</a:t>
            </a:r>
          </a:p>
          <a:p>
            <a:pPr>
              <a:spcBef>
                <a:spcPts val="800"/>
              </a:spcBef>
              <a:defRPr sz="1800">
                <a:solidFill>
                  <a:srgbClr val="1C1C1C"/>
                </a:solidFill>
              </a:defRPr>
            </a:pPr>
            <a:r>
              <a:t>• California case studies</a:t>
            </a:r>
          </a:p>
          <a:p>
            <a:pPr>
              <a:spcBef>
                <a:spcPts val="800"/>
              </a:spcBef>
              <a:defRPr sz="1800">
                <a:solidFill>
                  <a:srgbClr val="1C1C1C"/>
                </a:solidFill>
              </a:defRPr>
            </a:pPr>
            <a:r>
              <a:t>• Interactive simulations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solidFill>
            <a:srgbClr val="FFF8EB"/>
          </a:solidFill>
          <a:ln>
            <a:solidFill>
              <a:srgbClr val="DA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194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A770D"/>
                </a:solidFill>
              </a:defRPr>
            </a:pPr>
            <a:r>
              <a:t>Discussion</a:t>
            </a:r>
          </a:p>
          <a:p>
            <a:pPr>
              <a:spcBef>
                <a:spcPts val="1200"/>
              </a:spcBef>
              <a:defRPr sz="1800">
                <a:solidFill>
                  <a:srgbClr val="1C1C1C"/>
                </a:solidFill>
              </a:defRPr>
            </a:pPr>
            <a:r>
              <a:t>What topics would be most useful for new labs?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A770D"/>
                </a:solidFill>
              </a:defRPr>
            </a:pPr>
            <a:r>
              <a:t>caphegroup.org/methods-lab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Announcements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5029200" cy="2011680"/>
          </a:xfrm>
          <a:prstGeom prst="rect">
            <a:avLst/>
          </a:prstGeom>
          <a:solidFill>
            <a:srgbClr val="F0F5FF"/>
          </a:solidFill>
          <a:ln>
            <a:solidFill>
              <a:srgbClr val="00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WEBINAR • FEBRUARY 12</a:t>
            </a:r>
          </a:p>
          <a:p>
            <a:pPr>
              <a:spcBef>
                <a:spcPts val="800"/>
              </a:spcBef>
              <a:defRPr sz="2200" b="1">
                <a:solidFill>
                  <a:srgbClr val="003080"/>
                </a:solidFill>
              </a:defRPr>
            </a:pPr>
            <a:r>
              <a:t>Introduction to Health Economics</a:t>
            </a:r>
          </a:p>
          <a:p>
            <a:pPr>
              <a:spcBef>
                <a:spcPts val="800"/>
              </a:spcBef>
              <a:defRPr sz="1600">
                <a:solidFill>
                  <a:srgbClr val="424242"/>
                </a:solidFill>
              </a:defRPr>
            </a:pPr>
            <a:r>
              <a:t>12:00 PM PT • Free &amp; open to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solidFill>
            <a:srgbClr val="FFF8EB"/>
          </a:solidFill>
          <a:ln>
            <a:solidFill>
              <a:srgbClr val="DA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MARCH 25 MEETING</a:t>
            </a:r>
          </a:p>
          <a:p>
            <a:pPr>
              <a:spcBef>
                <a:spcPts val="800"/>
              </a:spcBef>
              <a:defRPr sz="2200" b="1">
                <a:solidFill>
                  <a:srgbClr val="003080"/>
                </a:solidFill>
              </a:defRPr>
            </a:pPr>
            <a:r>
              <a:t>Tim Brown</a:t>
            </a:r>
          </a:p>
          <a:p>
            <a:pPr>
              <a:spcBef>
                <a:spcPts val="800"/>
              </a:spcBef>
              <a:defRPr sz="1600">
                <a:solidFill>
                  <a:srgbClr val="1C1C1C"/>
                </a:solidFill>
              </a:defRPr>
            </a:pPr>
            <a:r>
              <a:t>ROI of Public Health Spending on Hospital Utilization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080"/>
                </a:solidFill>
              </a:defRPr>
            </a:pPr>
            <a:r>
              <a:t>Discussion: Fall 2026 Webinar Topics</a:t>
            </a:r>
          </a:p>
          <a:p>
            <a:pPr>
              <a:spcBef>
                <a:spcPts val="1200"/>
              </a:spcBef>
              <a:defRPr sz="1800">
                <a:solidFill>
                  <a:srgbClr val="424242"/>
                </a:solidFill>
              </a:defRPr>
            </a:pPr>
            <a:r>
              <a:t>What topics should we cover? Suggestions welcome!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Governance Documents for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Articles of Organization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Bylaws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Conflict of Interest Policy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Initial Board Meeting Minutes Template</a:t>
            </a:r>
          </a:p>
          <a:p>
            <a:pPr>
              <a:spcAft>
                <a:spcPts val="1200"/>
              </a:spcAft>
              <a:defRPr sz="2200">
                <a:solidFill>
                  <a:srgbClr val="1C1C1C"/>
                </a:solidFill>
              </a:defRPr>
            </a:pPr>
            <a:r>
              <a:t>• 501(c)(3) Filing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FF8EB"/>
          </a:solidFill>
          <a:ln>
            <a:solidFill>
              <a:srgbClr val="DA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37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ACTION REQUESTED</a:t>
            </a:r>
          </a:p>
          <a:p>
            <a:pPr>
              <a:spcBef>
                <a:spcPts val="1200"/>
              </a:spcBef>
              <a:defRPr sz="1800">
                <a:solidFill>
                  <a:srgbClr val="1C1C1C"/>
                </a:solidFill>
              </a:defRPr>
            </a:pPr>
            <a:r>
              <a:t>Review documents and provide feedback</a:t>
            </a:r>
          </a:p>
          <a:p>
            <a:pPr>
              <a:spcBef>
                <a:spcPts val="1200"/>
              </a:spcBef>
              <a:defRPr sz="1800" b="1">
                <a:solidFill>
                  <a:srgbClr val="003080"/>
                </a:solidFill>
              </a:defRPr>
            </a:pPr>
            <a:r>
              <a:t>Due: February 25,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Location: Google Drive → CAPHE folder (link will be shared via email)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Letter to Dr. Erika 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424242"/>
                </a:solidFill>
              </a:defRPr>
            </a:pPr>
            <a:r>
              <a:t>California State Epidemiologist</a:t>
            </a:r>
          </a:p>
          <a:p>
            <a:pPr>
              <a:spcBef>
                <a:spcPts val="2000"/>
              </a:spcBef>
            </a:pPr>
          </a:p>
          <a:p>
            <a:pPr>
              <a:defRPr sz="2200" b="1">
                <a:solidFill>
                  <a:srgbClr val="003080"/>
                </a:solidFill>
              </a:defRPr>
            </a:pPr>
            <a:r>
              <a:t>Purpose:</a:t>
            </a:r>
          </a:p>
          <a:p>
            <a:pPr>
              <a:spcBef>
                <a:spcPts val="800"/>
              </a:spcBef>
              <a:defRPr sz="2000">
                <a:solidFill>
                  <a:srgbClr val="1C1C1C"/>
                </a:solidFill>
              </a:defRPr>
            </a:pPr>
            <a:r>
              <a:t>• Introduce CAPHE and our mission</a:t>
            </a:r>
          </a:p>
          <a:p>
            <a:pPr>
              <a:spcBef>
                <a:spcPts val="800"/>
              </a:spcBef>
              <a:defRPr sz="2000">
                <a:solidFill>
                  <a:srgbClr val="1C1C1C"/>
                </a:solidFill>
              </a:defRPr>
            </a:pPr>
            <a:r>
              <a:t>• Highlight value for CDPH staff</a:t>
            </a:r>
          </a:p>
          <a:p>
            <a:pPr>
              <a:spcBef>
                <a:spcPts val="800"/>
              </a:spcBef>
              <a:defRPr sz="2000">
                <a:solidFill>
                  <a:srgbClr val="1C1C1C"/>
                </a:solidFill>
              </a:defRPr>
            </a:pPr>
            <a:r>
              <a:t>• Explore collaboration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FF8EB"/>
          </a:solidFill>
          <a:ln>
            <a:solidFill>
              <a:srgbClr val="DA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37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ACTION REQUESTED</a:t>
            </a:r>
          </a:p>
          <a:p>
            <a:pPr>
              <a:spcBef>
                <a:spcPts val="1200"/>
              </a:spcBef>
              <a:defRPr sz="1800">
                <a:solidFill>
                  <a:srgbClr val="1C1C1C"/>
                </a:solidFill>
              </a:defRPr>
            </a:pPr>
            <a:r>
              <a:t>Review draft and provide comments</a:t>
            </a:r>
          </a:p>
          <a:p>
            <a:pPr>
              <a:spcBef>
                <a:spcPts val="1200"/>
              </a:spcBef>
              <a:defRPr sz="1800" b="1">
                <a:solidFill>
                  <a:srgbClr val="003080"/>
                </a:solidFill>
              </a:defRPr>
            </a:pPr>
            <a:r>
              <a:t>Due: February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t>Location: Google Drive → CAPHE → CAPHE_Letter.gdoc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Upcoming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188720" cy="9144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FEB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Webinar (Free)</a:t>
            </a:r>
          </a:p>
          <a:p>
            <a:pPr>
              <a:defRPr sz="2200" b="1">
                <a:solidFill>
                  <a:srgbClr val="1C1C1C"/>
                </a:solidFill>
              </a:defRPr>
            </a:pPr>
            <a:r>
              <a:t>Introduction to Health Economics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188720" cy="9144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FEB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51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Peer Review</a:t>
            </a:r>
          </a:p>
          <a:p>
            <a:pPr>
              <a:defRPr sz="2200" b="1">
                <a:solidFill>
                  <a:srgbClr val="1C1C1C"/>
                </a:solidFill>
              </a:defRPr>
            </a:pPr>
            <a:r>
              <a:t>Monthly Member Meeting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40480"/>
            <a:ext cx="1188720" cy="9144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MAR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Peer Review</a:t>
            </a:r>
          </a:p>
          <a:p>
            <a:pPr>
              <a:defRPr sz="2200" b="1">
                <a:solidFill>
                  <a:srgbClr val="1C1C1C"/>
                </a:solidFill>
              </a:defRPr>
            </a:pPr>
            <a:r>
              <a:t>Tim Brown: Public Health 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200"/>
            <a:ext cx="1188720" cy="9144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Webinar (Free)</a:t>
            </a:r>
          </a:p>
          <a:p>
            <a:pPr>
              <a:defRPr sz="2200" b="1">
                <a:solidFill>
                  <a:srgbClr val="1C1C1C"/>
                </a:solidFill>
              </a:defRPr>
            </a:pPr>
            <a:r>
              <a:t>Cost-Effectiveness: The Basics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7F0"/>
                </a:solidFill>
              </a:defRPr>
            </a:pPr>
            <a:r>
              <a:t>Next Meeting: February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34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A770D"/>
                </a:solidFill>
              </a:defRPr>
            </a:pPr>
            <a:r>
              <a:t>caphegroup.org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7F0"/>
                </a:solidFill>
              </a:defRPr>
            </a:pPr>
            <a:r>
              <a:t>info@caphegroup.org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