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3080"/>
                </a:solidFill>
              </a:defRPr>
            </a:pPr>
            <a:r>
              <a:t>CAPHE</a:t>
            </a:r>
          </a:p>
          <a:p>
            <a:pPr algn="ctr">
              <a:spcBef>
                <a:spcPts val="1000"/>
              </a:spcBef>
              <a:defRPr sz="2400">
                <a:solidFill>
                  <a:srgbClr val="1C1C1C"/>
                </a:solidFill>
              </a:defRPr>
            </a:pPr>
            <a:r>
              <a:t>California Association of Public Health Economists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A770D"/>
                </a:solidFill>
              </a:defRPr>
            </a:pPr>
            <a:r>
              <a:t>Member Meeting</a:t>
            </a:r>
          </a:p>
          <a:p>
            <a:pPr algn="ctr">
              <a:spcBef>
                <a:spcPts val="1500"/>
              </a:spcBef>
              <a:defRPr sz="2800">
                <a:solidFill>
                  <a:srgbClr val="1C1C1C"/>
                </a:solidFill>
              </a:defRPr>
            </a:pPr>
            <a:r>
              <a:t>January 28,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A7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080"/>
                </a:solidFill>
              </a:defRPr>
            </a:pPr>
            <a: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800">
                <a:solidFill>
                  <a:srgbClr val="1C1C1C"/>
                </a:solidFill>
              </a:defRPr>
            </a:pPr>
            <a:r>
              <a:t>1.  Welcome &amp; Announcements</a:t>
            </a:r>
          </a:p>
          <a:p>
            <a:pPr>
              <a:spcAft>
                <a:spcPts val="2000"/>
              </a:spcAft>
              <a:defRPr sz="2800">
                <a:solidFill>
                  <a:srgbClr val="1C1C1C"/>
                </a:solidFill>
              </a:defRPr>
            </a:pPr>
            <a:r>
              <a:t>2.  Open Discussion / Networking</a:t>
            </a:r>
          </a:p>
          <a:p>
            <a:pPr>
              <a:spcAft>
                <a:spcPts val="2000"/>
              </a:spcAft>
              <a:defRPr sz="2800">
                <a:solidFill>
                  <a:srgbClr val="1C1C1C"/>
                </a:solidFill>
              </a:defRPr>
            </a:pPr>
            <a:r>
              <a:t>3.  Upcoming Events</a:t>
            </a:r>
          </a:p>
          <a:p>
            <a:pPr>
              <a:spcAft>
                <a:spcPts val="2000"/>
              </a:spcAft>
              <a:defRPr sz="2800">
                <a:solidFill>
                  <a:srgbClr val="1C1C1C"/>
                </a:solidFill>
              </a:defRPr>
            </a:pPr>
            <a:r>
              <a:t>4.  Q&amp;A / Wrap-up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080"/>
                </a:solidFill>
              </a:defRPr>
            </a:pPr>
            <a:r>
              <a:t>Upcoming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1371600" cy="8229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JAN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00200"/>
            <a:ext cx="8991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A770D"/>
                </a:solidFill>
              </a:defRPr>
            </a:pPr>
            <a:r>
              <a:t>Peer Review</a:t>
            </a:r>
          </a:p>
          <a:p>
            <a:pPr>
              <a:defRPr sz="2200" b="1">
                <a:solidFill>
                  <a:srgbClr val="1C1C1C"/>
                </a:solidFill>
              </a:defRPr>
            </a:pPr>
            <a:r>
              <a:t>Monthly Peer Review Session</a:t>
            </a:r>
          </a:p>
          <a:p>
            <a:pPr>
              <a:defRPr sz="1400">
                <a:solidFill>
                  <a:srgbClr val="424242"/>
                </a:solidFill>
              </a:defRPr>
            </a:pPr>
            <a:r>
              <a:t>12:00 PM - 1:00 PM PT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06040"/>
            <a:ext cx="1371600" cy="8229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FEB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06040"/>
            <a:ext cx="8991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A770D"/>
                </a:solidFill>
              </a:defRPr>
            </a:pPr>
            <a:r>
              <a:t>Webinar (Free)</a:t>
            </a:r>
          </a:p>
          <a:p>
            <a:pPr>
              <a:defRPr sz="2200" b="1">
                <a:solidFill>
                  <a:srgbClr val="1C1C1C"/>
                </a:solidFill>
              </a:defRPr>
            </a:pPr>
            <a:r>
              <a:t>Introduction to Health Economics</a:t>
            </a:r>
          </a:p>
          <a:p>
            <a:pPr>
              <a:defRPr sz="1400">
                <a:solidFill>
                  <a:srgbClr val="424242"/>
                </a:solidFill>
              </a:defRPr>
            </a:pPr>
            <a:r>
              <a:t>12:00 PM - 1:00 PM 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611880"/>
            <a:ext cx="1371600" cy="8229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FEB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11880"/>
            <a:ext cx="8991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A770D"/>
                </a:solidFill>
              </a:defRPr>
            </a:pPr>
            <a:r>
              <a:t>Peer Review</a:t>
            </a:r>
          </a:p>
          <a:p>
            <a:pPr>
              <a:defRPr sz="2200" b="1">
                <a:solidFill>
                  <a:srgbClr val="1C1C1C"/>
                </a:solidFill>
              </a:defRPr>
            </a:pPr>
            <a:r>
              <a:t>Monthly Peer Review Session</a:t>
            </a:r>
          </a:p>
          <a:p>
            <a:pPr>
              <a:defRPr sz="1400">
                <a:solidFill>
                  <a:srgbClr val="424242"/>
                </a:solidFill>
              </a:defRPr>
            </a:pPr>
            <a:r>
              <a:t>12:00 PM - 1:00 PM 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17720"/>
            <a:ext cx="1371600" cy="8229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0916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MAR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617720"/>
            <a:ext cx="8991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A770D"/>
                </a:solidFill>
              </a:defRPr>
            </a:pPr>
            <a:r>
              <a:t>Peer Review</a:t>
            </a:r>
          </a:p>
          <a:p>
            <a:pPr>
              <a:defRPr sz="2200" b="1">
                <a:solidFill>
                  <a:srgbClr val="1C1C1C"/>
                </a:solidFill>
              </a:defRPr>
            </a:pPr>
            <a:r>
              <a:t>Monthly Peer Review Session</a:t>
            </a:r>
          </a:p>
          <a:p>
            <a:pPr>
              <a:defRPr sz="1400">
                <a:solidFill>
                  <a:srgbClr val="424242"/>
                </a:solidFill>
              </a:defRPr>
            </a:pPr>
            <a:r>
              <a:t>12:00 PM - 1:00 PM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623560"/>
            <a:ext cx="1371600" cy="82296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APR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623560"/>
            <a:ext cx="8991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A770D"/>
                </a:solidFill>
              </a:defRPr>
            </a:pPr>
            <a:r>
              <a:t>Webinar (Free)</a:t>
            </a:r>
          </a:p>
          <a:p>
            <a:pPr>
              <a:defRPr sz="2200" b="1">
                <a:solidFill>
                  <a:srgbClr val="1C1C1C"/>
                </a:solidFill>
              </a:defRPr>
            </a:pPr>
            <a:r>
              <a:t>Cost-Effectiveness: The Basics</a:t>
            </a:r>
          </a:p>
          <a:p>
            <a:pPr>
              <a:defRPr sz="1400">
                <a:solidFill>
                  <a:srgbClr val="424242"/>
                </a:solidFill>
              </a:defRPr>
            </a:pPr>
            <a:r>
              <a:t>12:00 PM - 1:00 PM 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A770D"/>
                </a:solidFill>
              </a:defRPr>
            </a:pPr>
            <a:r>
              <a:t>caphegroup.org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7F0"/>
                </a:solidFill>
              </a:defRPr>
            </a:pPr>
            <a:r>
              <a:t>info@caphegroup.org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