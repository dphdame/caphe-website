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3080"/>
                </a:solidFill>
              </a:defRPr>
            </a:pPr>
            <a:r>
              <a:t>CAPHE</a:t>
            </a:r>
          </a:p>
          <a:p>
            <a:pPr algn="ctr">
              <a:defRPr sz="2200">
                <a:solidFill>
                  <a:srgbClr val="1C1C1C"/>
                </a:solidFill>
              </a:defRPr>
            </a:pPr>
            <a:r>
              <a:t>California Association of Public Health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A770D"/>
                </a:solidFill>
              </a:defRPr>
            </a:pPr>
            <a:r>
              <a:t>Member Meeting</a:t>
            </a:r>
          </a:p>
          <a:p>
            <a:pPr algn="ctr">
              <a:defRPr sz="2600">
                <a:solidFill>
                  <a:srgbClr val="1C1C1C"/>
                </a:solidFill>
              </a:defRPr>
            </a:pPr>
            <a:r>
              <a:t>April 29,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Today is mostly us asking you for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24242"/>
                </a:solidFill>
              </a:defRPr>
            </a:pPr>
            <a:r>
              <a:t>Three things, plus a few quick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>
                <a:solidFill>
                  <a:srgbClr val="1C1C1C"/>
                </a:solidFill>
              </a:defRPr>
            </a:pPr>
            <a:r>
              <a:t>1.   What should CAPHE be asking CDPH for?</a:t>
            </a:r>
          </a:p>
          <a:p>
            <a:pPr>
              <a:spcAft>
                <a:spcPts val="2000"/>
              </a:spcAft>
              <a:defRPr sz="2800">
                <a:solidFill>
                  <a:srgbClr val="1C1C1C"/>
                </a:solidFill>
              </a:defRPr>
            </a:pPr>
            <a:r>
              <a:t>2.   What might make our webinars more useful, or more findable?</a:t>
            </a:r>
          </a:p>
          <a:p>
            <a:pPr>
              <a:spcAft>
                <a:spcPts val="2000"/>
              </a:spcAft>
              <a:defRPr sz="2800">
                <a:solidFill>
                  <a:srgbClr val="1C1C1C"/>
                </a:solidFill>
              </a:defRPr>
            </a:pPr>
            <a:r>
              <a:t>3.   Who wants to present this summer?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080"/>
                </a:solidFill>
              </a:defRPr>
            </a:pPr>
            <a:r>
              <a:t>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1.   Welcome    (3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2.   Health Economics within CDPH (Gilda)    (10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3.   What's on your mind? Round-robin.    (5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4.   April 9 didn't land. June 24 needs your help.    (15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5.   Summer slot: open call to members    (10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6.   Fall: Gilda's topic, what would members find useful?    (8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7.   Office hours: design with us    (5 min)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8.   Wrap and next steps    (4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2 (GILDA)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Health Economics within CDPH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1C1C"/>
                </a:solidFill>
              </a:defRPr>
            </a:pPr>
            <a:r>
              <a:t>The health economics function is moving away from CDPH. Our letter was written before that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70D"/>
                </a:solidFill>
              </a:defRPr>
            </a:pPr>
            <a:r>
              <a:t>WHAT THE LETTER 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Position CAPHE as a professional resource to CDPH.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Adopt a California reference case for public health economic evaluation.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Build HRQoL and cost data into modernization (BRFSS, CHIS).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Engage health economists at scoping, not retrofit.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770D"/>
                </a:solidFill>
              </a:defRPr>
            </a:pPr>
            <a:r>
              <a:t>DOES THIS CHANGE 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80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Does the letter's frame still hold?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If health economics is leaving CDPH, where should CAPHE push instead?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Who else at the state should know about us?</a:t>
            </a:r>
          </a:p>
          <a:p>
            <a:pPr>
              <a:spcAft>
                <a:spcPts val="800"/>
              </a:spcAft>
              <a:defRPr sz="1600">
                <a:solidFill>
                  <a:srgbClr val="1C1C1C"/>
                </a:solidFill>
              </a:defRPr>
            </a:pPr>
            <a:r>
              <a:t>•  What would make our next ask more concrete?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3 (ROUND-ROBIN)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What's on your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3080"/>
                </a:solidFill>
              </a:defRPr>
            </a:pPr>
            <a:r>
              <a:t>Anything in the field that's caught your attention since February?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424242"/>
                </a:solidFill>
              </a:defRPr>
            </a:pPr>
            <a:r>
              <a:t>•   CA budget / May Revise pressures on Medi-Cal?</a:t>
            </a:r>
          </a:p>
          <a:p>
            <a:pPr>
              <a:spcAft>
                <a:spcPts val="600"/>
              </a:spcAft>
              <a:defRPr sz="2000">
                <a:solidFill>
                  <a:srgbClr val="424242"/>
                </a:solidFill>
              </a:defRPr>
            </a:pPr>
            <a:r>
              <a:t>•   Federal Medicaid policy or data releases?</a:t>
            </a:r>
          </a:p>
          <a:p>
            <a:pPr>
              <a:spcAft>
                <a:spcPts val="600"/>
              </a:spcAft>
              <a:defRPr sz="2000">
                <a:solidFill>
                  <a:srgbClr val="424242"/>
                </a:solidFill>
              </a:defRPr>
            </a:pPr>
            <a:r>
              <a:t>•   A paper, dataset, or report worth flagging?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We don't have to solve it. Just surface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4 (JUNE 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April 9 didn't land. June 24 needs your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C1C1C"/>
                </a:solidFill>
              </a:defRPr>
            </a:pPr>
            <a:r>
              <a:t>April 9 had no attendees. We'd like to figure out why, together.</a:t>
            </a:r>
          </a:p>
          <a:p>
            <a:pPr>
              <a:defRPr sz="600"/>
            </a:pPr>
            <a:r>
              <a:t> </a:t>
            </a:r>
          </a:p>
          <a:p>
            <a:pPr>
              <a:defRPr sz="2000" b="1">
                <a:solidFill>
                  <a:srgbClr val="003080"/>
                </a:solidFill>
              </a:defRPr>
            </a:pPr>
            <a:r>
              <a:t>June 24: Adrienne Sabety and Maya Rossin-Slater (Stanford)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t>Preschool entry age and developmental and behavioral health diagnoses among low-income children in Medicaid.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WHAT MIGHT WORK BETTER?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1C1C"/>
                </a:solidFill>
              </a:defRPr>
            </a:pPr>
            <a:r>
              <a:t>•  Are we picking topics our people actually want?</a:t>
            </a:r>
          </a:p>
          <a:p>
            <a:pPr>
              <a:spcAft>
                <a:spcPts val="600"/>
              </a:spcAft>
              <a:defRPr sz="1800">
                <a:solidFill>
                  <a:srgbClr val="1C1C1C"/>
                </a:solidFill>
              </a:defRPr>
            </a:pPr>
            <a:r>
              <a:t>•  Is the format right? Length, time of day, lecture vs. discussion, recording?</a:t>
            </a:r>
          </a:p>
          <a:p>
            <a:pPr>
              <a:spcAft>
                <a:spcPts val="600"/>
              </a:spcAft>
              <a:defRPr sz="1800">
                <a:solidFill>
                  <a:srgbClr val="1C1C1C"/>
                </a:solidFill>
              </a:defRPr>
            </a:pPr>
            <a:r>
              <a:t>•  Who in your network would want this, and how do they usually hear about things?</a:t>
            </a:r>
          </a:p>
          <a:p>
            <a:pPr>
              <a:spcAft>
                <a:spcPts val="600"/>
              </a:spcAft>
              <a:defRPr sz="1800">
                <a:solidFill>
                  <a:srgbClr val="1C1C1C"/>
                </a:solidFill>
              </a:defRPr>
            </a:pPr>
            <a:r>
              <a:t>•  Partners we haven't tried: CHEAC, CCLHO, AcademyHealth CA, schools of public health?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5 (SUMMER)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Open call: who wants to present?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C1C1C"/>
                </a:solidFill>
              </a:defRPr>
            </a:pPr>
            <a:r>
              <a:t>We have an open summer slot. Member work, work-in-progress, anything you want feedback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FORMAT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Single 30-minute talk + Q&amp;A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Two 15-minute lightning talks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Works-in-progress methods clinic: bring a problem, group reacts.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080"/>
                </a:solidFill>
              </a:defRPr>
            </a:pPr>
            <a:r>
              <a:t>Hands? Nominations? Confirm by mid-May.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6 (FALL)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Gilda is presenting in the fall.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080"/>
                </a:solidFill>
              </a:defRPr>
            </a:pPr>
            <a:r>
              <a:t>What would you find most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What's a question you wish a state-level health economist would answer?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Free public webinar or member-only?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Anything Gilda should know before she finalizes the topic?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ITEM 7 (OFFICE 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10820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Help us design the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C1C1C"/>
                </a:solidFill>
              </a:defRPr>
            </a:pPr>
            <a:r>
              <a:t>We committed to pilot office hours in February. We have not yet because we want you to tell us the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A770D"/>
                </a:solidFill>
              </a:defRPr>
            </a:pPr>
            <a:r>
              <a:t>DESIGN CHOICES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Drop-in   or   by appointment?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Open Q&amp;A   or   bring-a-problem methods clinic?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Organized by topic (CEA, causal inference, data)   or   general?</a:t>
            </a:r>
          </a:p>
          <a:p>
            <a:pPr>
              <a:spcAft>
                <a:spcPts val="800"/>
              </a:spcAft>
              <a:defRPr sz="2000">
                <a:solidFill>
                  <a:srgbClr val="1C1C1C"/>
                </a:solidFill>
              </a:defRPr>
            </a:pPr>
            <a:r>
              <a:t>•   Audience: LHJ staff, program managers, students?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080"/>
                </a:solidFill>
              </a:defRPr>
            </a:pPr>
            <a:r>
              <a:t>Things to take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  Topic and format ideas for future webinars (keep them coming).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  Names of people or partners worth inviting for June 24.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  Anyone interested in presenting this summer? Confirm by mid-May.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  Topic suggestions for Gilda's fall talk.</a:t>
            </a:r>
          </a:p>
          <a:p>
            <a:pPr>
              <a:spcAft>
                <a:spcPts val="1000"/>
              </a:spcAft>
              <a:defRPr sz="2000">
                <a:solidFill>
                  <a:srgbClr val="1C1C1C"/>
                </a:solidFill>
              </a:defRPr>
            </a:pPr>
            <a:r>
              <a:t>•   Office hours: format ideas to bring back next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521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A770D"/>
                </a:solidFill>
              </a:defRPr>
            </a:pPr>
            <a:r>
              <a:t>Next meeting: TBD   |   Next webinar: June 24, 2026 (Sabety &amp; Rossin-Slater)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A7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