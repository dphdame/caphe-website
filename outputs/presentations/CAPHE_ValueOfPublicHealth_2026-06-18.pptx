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Today we ask what public health is worth. We also ask how we put numbers on prevention. We share new California evidence from our own work. Then we walk through everyday tools for weighing a program. We hope to leave knowing which method answers which question.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path for the hour. We start with the evidence, including a study we ran on California counties. Then we ask why prevention is so hard to value. Most of our time goes to the toolkit, with worked examples we can borrow. We close on how to match a method to a question.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Prevention works by making bad things not happen. That is what makes it satisfying and also what makes it hard to measure. We cannot count the heart attack that never came. So we lean on comparisons and models to estimate the outcome we avoided.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cited number in our space comes from Brown. He estimated a return of sixty-seven to eighty-eight dollars per dollar of county public health spending. The figure is large, and it rests on a careful instrumental-variables design rather than a simple comparison. We build on this work later.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make this hard. We cannot observe the outcome we prevented. The benefits show up slowly while the bill arrives now. The label public health covers many activities, so the spending is mixed. And when we lump prevention in with everything else, we may understate what prevention alone returns.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to our own work. We set out to test whether Brown's result replicates. We also asked what it misses. The answers surprised us in a few places.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assembled a panel of all fifty-seven California counties over two decades, about twelve hundred county-years. We used the same Lewbel method as Brown, which builds its instruments from the data itself. We measured spending from detailed county financial reports and checked our classification with county health officers.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central estimate landed at minus nine point one six. That is almost exactly Brown's minus nine point one. Plain regression looks far different. Ordinary least squares gives a null with the wrong sign, a gap of about fifty times. That gap is the reverse-causation bias, since mortality shocks tend to raise spending later.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same point in one picture. On the left, ordinary regression sits at zero. On the right, the method that handles endogeneity shows a clear mortality reduction with tight confidence bounds. Reading only the left bar, we would conclude prevention does nothing, which is the trap.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pushed on the result from many angles. Across forty-seven specifications, forty-six stayed beneficial and significant. Dropping any single county barely moved the estimate. The benefit concentrates in small counties. In large ones we cannot detect it, which looks like a sample-size limit, not a true absence.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headline finding is about crisis value. The mortality effect of spending roughly doubled once we include the pandemic years. Standard analyses look only at normal times, so they may understate the value of capacity by half to fully double. We think of this as the option value of having public health infrastructure ready.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chart shows the effect excluding crisis years next to the effect that includes them. The jump is close to double. Infrastructure that looks modestly useful in calm years can matter a great deal when a crisis arrives. That extra value is easy to miss.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also found a complement. After the Affordable Care Act, the mortality effect of public health spending was about three times larger. Coverage and prevention seem to reinforce each other, so investing in both together may return more than either alone. That has direct relevance for states weighing Medicaid expansion.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the pre-ACA effect sits next to the post-ACA effect, and the difference is roughly threefold. We read this as evidence that prevention needs a working path to care to translate into saved lives. The two investments appear to multiply rather than substitute.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one dollar per capita in added spending is linked to roughly nine fewer deaths per 100,000. Put in dollar terms, that is about one hundred nine thousand dollars per life saved. Against the federal value of a statistical life, the benefit-cost ratio is near one hundred twenty-five to one. And because standard analyses miss crisis value, they may understate the return by half to fully double.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like these come from a way of thinking. Before any formula, economists start with one idea: every choice has a cost we cannot see.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Proving a program works is only the first step. The harder question is what we gave up to fund it, the opportunity cost. Every dollar we commit is a dollar unavailable elsewhere. So a program can work and still be the wrong call if another option would buy more health.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three programs. One prevents deaths, one prevents hospitalizations, one improves daily quality of life. Which gives the most health? We cannot say until we put them in one unit. That unit has to capture both how long we live and how well we live.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quality-adjusted life year is our common unit. One QALY is a year in full health, and a year at lower quality counts as less. So five years at sixty percent quality equals three QALYs. The measure lets us fold length and quality of life into a single number.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QALYs are standard, and they are contested. The main worry is that they can count a year lived with disability as worth less, which some read as bias. Alternatives weight every life-year equally. We will not settle that debate today. The aim is to use the measure while knowing the critique.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be clear about what the tool is. Cost-effectiveness analysis compares value across programs and sums it into one ratio. It does not make the decision for us, and it does not judge human worth. It measures efficiency, which is one input among equity, feasibility, and politics.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metric is the incremental cost-effectiveness ratio. It is the extra cost divided by the extra health, against current practice. In plain terms, how much more do we pay for each additional unit of health. That ratio is what lets us rank options on the same scale.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ratio in action. Expanding screening costs three hundred thousand more and prevents thirty more cases, so the incremental cost is ten thousand dollars per case. Whether that is worth it depends on what a diabetes case costs us downstream and on the threshold we hold.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California example grounds it. A promotora-led diabetes program cost about forty-five thousand dollars per QALY in the Medi-Cal group, just under a common benchmark. The uninsured group came in far lower. We read that gap with care, since cohorts differ in baseline severity, not only in program effect.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counts as cost-effective? A rough convention puts under fifty thousand per QALY as strong value. Fifty to one hundred fifty thousand is context-dependent. Above that sets a higher bar. These are guidelines, not rules. The United States has no official threshold, and some argue it should be higher.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high ratio does not end the conversation. Equity can justify spending more on the underserved. Some services are legally or ethically required. Community values matter. Sometimes no alternative exists, and an expensive option still beats nothing. And capacity can pay off in ways the ratio never captures.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Cost-effective and affordable are not the same thing. Budget impact asks what a program costs our budget in total, year by year. A program can be excellent value and still break the budget, or be cheap and poor value. We ask both questions, and we keep them separate.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Cost-effectiveness keeps health in health units. Return on investment and benefit-cost analysis convert benefits into dollars, like the sixty-seven to eighty-eight dollar figure. Dollars are easy to communicate, but turning health into money takes assumptions. We pick the framing our audience will trust.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every ratio is a causal claim: that the program caused the change. Study designs differ in how well they support that claim. Randomized trials and strong quasi-experiments sit near the top. Simple before-after sits near the bottom. Confounding, selection, and regression to the mean are the usual traps.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Thanks for joining. The slides, the Methods Lab, and our working paper are all linked at caphegroup.org. We welcome questions now. We also hope to see folks at the monthly peer review sessions, where we work through real analyses together.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003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20840"/>
            <a:ext cx="12191695" cy="137160"/>
          </a:xfrm>
          <a:prstGeom prst="rect">
            <a:avLst/>
          </a:prstGeom>
          <a:solidFill>
            <a:srgbClr val="DA77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10360152" cy="731520"/>
          </a:xfrm>
          <a:prstGeom prst="rect">
            <a:avLst/>
          </a:prstGeom>
          <a:noFill/>
        </p:spPr>
        <p:txBody>
          <a:bodyPr wrap="square">
            <a:spAutoFit/>
          </a:bodyPr>
          <a:lstStyle/>
          <a:p>
            <a:pPr algn="ctr">
              <a:defRPr sz="2200" b="1">
                <a:solidFill>
                  <a:srgbClr val="003080"/>
                </a:solidFill>
                <a:latin typeface="Calibri"/>
              </a:defRPr>
            </a:pPr>
            <a:r>
              <a:t>California Association of Public Health Economists</a:t>
            </a:r>
          </a:p>
        </p:txBody>
      </p:sp>
      <p:sp>
        <p:nvSpPr>
          <p:cNvPr id="6" name="TextBox 5"/>
          <p:cNvSpPr txBox="1"/>
          <p:nvPr/>
        </p:nvSpPr>
        <p:spPr>
          <a:xfrm>
            <a:off x="914400" y="1554480"/>
            <a:ext cx="10360152" cy="1554480"/>
          </a:xfrm>
          <a:prstGeom prst="rect">
            <a:avLst/>
          </a:prstGeom>
          <a:noFill/>
        </p:spPr>
        <p:txBody>
          <a:bodyPr wrap="square">
            <a:spAutoFit/>
          </a:bodyPr>
          <a:lstStyle/>
          <a:p>
            <a:pPr algn="ctr">
              <a:defRPr sz="3800" b="1">
                <a:solidFill>
                  <a:srgbClr val="1C1C1C"/>
                </a:solidFill>
                <a:latin typeface="Calibri"/>
              </a:defRPr>
            </a:pPr>
            <a:r>
              <a:t>The Value of Public Health</a:t>
            </a:r>
          </a:p>
          <a:p>
            <a:pPr algn="ctr">
              <a:defRPr sz="2400" b="0">
                <a:solidFill>
                  <a:srgbClr val="424242"/>
                </a:solidFill>
                <a:latin typeface="Calibri"/>
              </a:defRPr>
            </a:pPr>
            <a:r>
              <a:t>Measuring What Prevention Is Worth</a:t>
            </a:r>
          </a:p>
        </p:txBody>
      </p:sp>
      <p:pic>
        <p:nvPicPr>
          <p:cNvPr id="7" name="Picture 6" descr="cea-hero-california.png"/>
          <p:cNvPicPr>
            <a:picLocks noChangeAspect="1"/>
          </p:cNvPicPr>
          <p:nvPr/>
        </p:nvPicPr>
        <p:blipFill>
          <a:blip r:embed="rId2"/>
          <a:stretch>
            <a:fillRect/>
          </a:stretch>
        </p:blipFill>
        <p:spPr>
          <a:xfrm>
            <a:off x="5001768" y="3063240"/>
            <a:ext cx="2194560" cy="2194560"/>
          </a:xfrm>
          <a:prstGeom prst="rect">
            <a:avLst/>
          </a:prstGeom>
        </p:spPr>
      </p:pic>
      <p:sp>
        <p:nvSpPr>
          <p:cNvPr id="8" name="TextBox 7"/>
          <p:cNvSpPr txBox="1"/>
          <p:nvPr/>
        </p:nvSpPr>
        <p:spPr>
          <a:xfrm>
            <a:off x="914400" y="5440680"/>
            <a:ext cx="10360152" cy="822960"/>
          </a:xfrm>
          <a:prstGeom prst="rect">
            <a:avLst/>
          </a:prstGeom>
          <a:noFill/>
        </p:spPr>
        <p:txBody>
          <a:bodyPr wrap="square">
            <a:spAutoFit/>
          </a:bodyPr>
          <a:lstStyle/>
          <a:p>
            <a:pPr algn="ctr">
              <a:defRPr sz="2000" b="0">
                <a:solidFill>
                  <a:srgbClr val="424242"/>
                </a:solidFill>
                <a:latin typeface="Calibri"/>
              </a:defRPr>
            </a:pPr>
            <a:r>
              <a:t>Victoria Cholette, PhD</a:t>
            </a:r>
          </a:p>
          <a:p>
            <a:pPr algn="ctr">
              <a:defRPr sz="1800" b="0">
                <a:solidFill>
                  <a:srgbClr val="424242"/>
                </a:solidFill>
                <a:latin typeface="Calibri"/>
              </a:defRPr>
            </a:pPr>
            <a:r>
              <a:t>Free Webinar Series  ·  caphegroup.org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A77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881360" cy="960120"/>
          </a:xfrm>
          <a:prstGeom prst="rect">
            <a:avLst/>
          </a:prstGeom>
          <a:noFill/>
        </p:spPr>
        <p:txBody>
          <a:bodyPr wrap="square">
            <a:spAutoFit/>
          </a:bodyPr>
          <a:lstStyle/>
          <a:p>
            <a:pPr algn="l">
              <a:defRPr sz="2800" b="1">
                <a:solidFill>
                  <a:srgbClr val="003080"/>
                </a:solidFill>
                <a:latin typeface="Calibri"/>
              </a:defRPr>
            </a:pPr>
            <a:r>
              <a:t>Today's Objectives</a:t>
            </a:r>
          </a:p>
        </p:txBody>
      </p:sp>
      <p:sp>
        <p:nvSpPr>
          <p:cNvPr id="5" name="TextBox 4"/>
          <p:cNvSpPr txBox="1"/>
          <p:nvPr/>
        </p:nvSpPr>
        <p:spPr>
          <a:xfrm>
            <a:off x="822960" y="1508760"/>
            <a:ext cx="10607040" cy="4663440"/>
          </a:xfrm>
          <a:prstGeom prst="rect">
            <a:avLst/>
          </a:prstGeom>
          <a:noFill/>
        </p:spPr>
        <p:txBody>
          <a:bodyPr wrap="square">
            <a:spAutoFit/>
          </a:bodyPr>
          <a:lstStyle/>
          <a:p>
            <a:pPr algn="l">
              <a:spcAft>
                <a:spcPts val="1000"/>
              </a:spcAft>
              <a:defRPr sz="2000" b="0">
                <a:solidFill>
                  <a:srgbClr val="1C1C1C"/>
                </a:solidFill>
                <a:latin typeface="Calibri"/>
              </a:defRPr>
            </a:pPr>
            <a:r>
              <a:t>•  Share new California evidence on prevention's value</a:t>
            </a:r>
          </a:p>
          <a:p>
            <a:pPr algn="l">
              <a:spcAft>
                <a:spcPts val="600"/>
              </a:spcAft>
              <a:defRPr sz="1900" b="0">
                <a:solidFill>
                  <a:srgbClr val="424242"/>
                </a:solidFill>
                <a:latin typeface="Calibri"/>
              </a:defRPr>
            </a:pPr>
            <a:r>
              <a:t>       –  our replication and extension of Brown (2016)</a:t>
            </a:r>
          </a:p>
          <a:p>
            <a:pPr algn="l">
              <a:spcAft>
                <a:spcPts val="1000"/>
              </a:spcAft>
              <a:defRPr sz="2000" b="0">
                <a:solidFill>
                  <a:srgbClr val="1C1C1C"/>
                </a:solidFill>
                <a:latin typeface="Calibri"/>
              </a:defRPr>
            </a:pPr>
            <a:r>
              <a:t>•  Understand why measuring that value is hard</a:t>
            </a:r>
          </a:p>
          <a:p>
            <a:pPr algn="l">
              <a:spcAft>
                <a:spcPts val="1000"/>
              </a:spcAft>
              <a:defRPr sz="2000" b="0">
                <a:solidFill>
                  <a:srgbClr val="1C1C1C"/>
                </a:solidFill>
                <a:latin typeface="Calibri"/>
              </a:defRPr>
            </a:pPr>
            <a:r>
              <a:t>•  Tour the toolkit economists use:</a:t>
            </a:r>
          </a:p>
          <a:p>
            <a:pPr algn="l">
              <a:spcAft>
                <a:spcPts val="600"/>
              </a:spcAft>
              <a:defRPr sz="1900" b="0">
                <a:solidFill>
                  <a:srgbClr val="424242"/>
                </a:solidFill>
                <a:latin typeface="Calibri"/>
              </a:defRPr>
            </a:pPr>
            <a:r>
              <a:t>       –  common health units, cost-effectiveness, ROI</a:t>
            </a:r>
          </a:p>
          <a:p>
            <a:pPr algn="l">
              <a:spcAft>
                <a:spcPts val="600"/>
              </a:spcAft>
              <a:defRPr sz="1900" b="0">
                <a:solidFill>
                  <a:srgbClr val="424242"/>
                </a:solidFill>
                <a:latin typeface="Calibri"/>
              </a:defRPr>
            </a:pPr>
            <a:r>
              <a:t>       –  budget impact, comparators, sensitivity analysis</a:t>
            </a:r>
          </a:p>
          <a:p>
            <a:pPr algn="l">
              <a:spcAft>
                <a:spcPts val="1000"/>
              </a:spcAft>
              <a:defRPr sz="2000" b="0">
                <a:solidFill>
                  <a:srgbClr val="1C1C1C"/>
                </a:solidFill>
                <a:latin typeface="Calibri"/>
              </a:defRPr>
            </a:pPr>
            <a:r>
              <a:t>•  See worked examples from California public health</a:t>
            </a:r>
          </a:p>
          <a:p>
            <a:pPr algn="l">
              <a:spcAft>
                <a:spcPts val="1000"/>
              </a:spcAft>
              <a:defRPr sz="2000" b="0">
                <a:solidFill>
                  <a:srgbClr val="1C1C1C"/>
                </a:solidFill>
                <a:latin typeface="Calibri"/>
              </a:defRPr>
            </a:pPr>
            <a:r>
              <a:t>•  Know how to choose a method for our own work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A77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6309360" cy="548640"/>
          </a:xfrm>
          <a:prstGeom prst="rect">
            <a:avLst/>
          </a:prstGeom>
          <a:noFill/>
        </p:spPr>
        <p:txBody>
          <a:bodyPr wrap="square">
            <a:spAutoFit/>
          </a:bodyPr>
          <a:lstStyle/>
          <a:p>
            <a:pPr algn="l">
              <a:defRPr sz="2000" b="1">
                <a:solidFill>
                  <a:srgbClr val="003080"/>
                </a:solidFill>
                <a:latin typeface="Calibri"/>
              </a:defRPr>
            </a:pPr>
            <a:r>
              <a:t>THE CORE QUESTION</a:t>
            </a:r>
          </a:p>
        </p:txBody>
      </p:sp>
      <p:sp>
        <p:nvSpPr>
          <p:cNvPr id="5" name="TextBox 4"/>
          <p:cNvSpPr txBox="1"/>
          <p:nvPr/>
        </p:nvSpPr>
        <p:spPr>
          <a:xfrm>
            <a:off x="731520" y="1737360"/>
            <a:ext cx="6309360" cy="2194560"/>
          </a:xfrm>
          <a:prstGeom prst="rect">
            <a:avLst/>
          </a:prstGeom>
          <a:noFill/>
        </p:spPr>
        <p:txBody>
          <a:bodyPr wrap="square" anchor="ctr">
            <a:spAutoFit/>
          </a:bodyPr>
          <a:lstStyle/>
          <a:p>
            <a:pPr algn="l">
              <a:defRPr sz="2800" b="1">
                <a:solidFill>
                  <a:srgbClr val="1C1C1C"/>
                </a:solidFill>
                <a:latin typeface="Calibri"/>
              </a:defRPr>
            </a:pPr>
            <a:r>
              <a:t>Prevention's payoff is the bad outcome that never happens.</a:t>
            </a:r>
          </a:p>
        </p:txBody>
      </p:sp>
      <p:sp>
        <p:nvSpPr>
          <p:cNvPr id="6" name="TextBox 5"/>
          <p:cNvSpPr txBox="1"/>
          <p:nvPr/>
        </p:nvSpPr>
        <p:spPr>
          <a:xfrm>
            <a:off x="731520" y="4114800"/>
            <a:ext cx="6309360" cy="1920240"/>
          </a:xfrm>
          <a:prstGeom prst="rect">
            <a:avLst/>
          </a:prstGeom>
          <a:noFill/>
        </p:spPr>
        <p:txBody>
          <a:bodyPr wrap="square">
            <a:spAutoFit/>
          </a:bodyPr>
          <a:lstStyle/>
          <a:p>
            <a:pPr algn="l">
              <a:spcAft>
                <a:spcPts val="800"/>
              </a:spcAft>
              <a:defRPr sz="1900" b="0">
                <a:solidFill>
                  <a:srgbClr val="424242"/>
                </a:solidFill>
                <a:latin typeface="Calibri"/>
              </a:defRPr>
            </a:pPr>
            <a:r>
              <a:t>How do we value an illness that never occurred,</a:t>
            </a:r>
          </a:p>
          <a:p>
            <a:pPr algn="l">
              <a:spcAft>
                <a:spcPts val="800"/>
              </a:spcAft>
              <a:defRPr sz="1900" b="0">
                <a:solidFill>
                  <a:srgbClr val="424242"/>
                </a:solidFill>
                <a:latin typeface="Calibri"/>
              </a:defRPr>
            </a:pPr>
            <a:r>
              <a:t>a hospitalization avoided, a life-year preserved?</a:t>
            </a:r>
          </a:p>
          <a:p>
            <a:pPr algn="l">
              <a:spcAft>
                <a:spcPts val="800"/>
              </a:spcAft>
              <a:defRPr sz="1900" b="0">
                <a:solidFill>
                  <a:srgbClr val="424242"/>
                </a:solidFill>
                <a:latin typeface="Calibri"/>
              </a:defRPr>
            </a:pPr>
            <a:r>
              <a:t>This is the measurement problem at the heart of our field.</a:t>
            </a:r>
          </a:p>
        </p:txBody>
      </p:sp>
      <p:pic>
        <p:nvPicPr>
          <p:cNvPr id="7" name="Picture 6" descr="cea-concept-question.png"/>
          <p:cNvPicPr>
            <a:picLocks noChangeAspect="1"/>
          </p:cNvPicPr>
          <p:nvPr/>
        </p:nvPicPr>
        <p:blipFill>
          <a:blip r:embed="rId2"/>
          <a:stretch>
            <a:fillRect/>
          </a:stretch>
        </p:blipFill>
        <p:spPr>
          <a:xfrm>
            <a:off x="7360920" y="1737360"/>
            <a:ext cx="4206240" cy="42062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A77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881360" cy="960120"/>
          </a:xfrm>
          <a:prstGeom prst="rect">
            <a:avLst/>
          </a:prstGeom>
          <a:noFill/>
        </p:spPr>
        <p:txBody>
          <a:bodyPr wrap="square">
            <a:spAutoFit/>
          </a:bodyPr>
          <a:lstStyle/>
          <a:p>
            <a:pPr algn="l">
              <a:defRPr sz="2800" b="1">
                <a:solidFill>
                  <a:srgbClr val="003080"/>
                </a:solidFill>
                <a:latin typeface="Calibri"/>
              </a:defRPr>
            </a:pPr>
            <a:r>
              <a:t>The Headline Evidence: Brown (2016)</a:t>
            </a:r>
          </a:p>
        </p:txBody>
      </p:sp>
      <p:sp>
        <p:nvSpPr>
          <p:cNvPr id="5" name="TextBox 4"/>
          <p:cNvSpPr txBox="1"/>
          <p:nvPr/>
        </p:nvSpPr>
        <p:spPr>
          <a:xfrm>
            <a:off x="822960" y="2011680"/>
            <a:ext cx="1859280" cy="1188720"/>
          </a:xfrm>
          <a:prstGeom prst="rect">
            <a:avLst/>
          </a:prstGeom>
          <a:noFill/>
        </p:spPr>
        <p:txBody>
          <a:bodyPr wrap="square" anchor="ctr">
            <a:spAutoFit/>
          </a:bodyPr>
          <a:lstStyle/>
          <a:p>
            <a:pPr algn="ctr">
              <a:defRPr sz="3800" b="1">
                <a:solidFill>
                  <a:srgbClr val="003080"/>
                </a:solidFill>
                <a:latin typeface="Calibri"/>
              </a:defRPr>
            </a:pPr>
            <a:r>
              <a:t>$67–88</a:t>
            </a:r>
          </a:p>
        </p:txBody>
      </p:sp>
      <p:sp>
        <p:nvSpPr>
          <p:cNvPr id="6" name="TextBox 5"/>
          <p:cNvSpPr txBox="1"/>
          <p:nvPr/>
        </p:nvSpPr>
        <p:spPr>
          <a:xfrm>
            <a:off x="822960" y="3291840"/>
            <a:ext cx="1859280" cy="2468880"/>
          </a:xfrm>
          <a:prstGeom prst="rect">
            <a:avLst/>
          </a:prstGeom>
          <a:noFill/>
        </p:spPr>
        <p:txBody>
          <a:bodyPr wrap="square">
            <a:spAutoFit/>
          </a:bodyPr>
          <a:lstStyle/>
          <a:p>
            <a:pPr algn="ctr">
              <a:spcAft>
                <a:spcPts val="600"/>
              </a:spcAft>
              <a:defRPr sz="1800" b="0">
                <a:solidFill>
                  <a:srgbClr val="1C1C1C"/>
                </a:solidFill>
                <a:latin typeface="Calibri"/>
              </a:defRPr>
            </a:pPr>
            <a:r>
              <a:t>Return per dollar of</a:t>
            </a:r>
          </a:p>
          <a:p>
            <a:pPr algn="ctr">
              <a:spcAft>
                <a:spcPts val="600"/>
              </a:spcAft>
              <a:defRPr sz="1800" b="0">
                <a:solidFill>
                  <a:srgbClr val="1C1C1C"/>
                </a:solidFill>
                <a:latin typeface="Calibri"/>
              </a:defRPr>
            </a:pPr>
            <a:r>
              <a:t>public health spending</a:t>
            </a:r>
          </a:p>
        </p:txBody>
      </p:sp>
      <p:sp>
        <p:nvSpPr>
          <p:cNvPr id="7" name="TextBox 6"/>
          <p:cNvSpPr txBox="1"/>
          <p:nvPr/>
        </p:nvSpPr>
        <p:spPr>
          <a:xfrm>
            <a:off x="3048000" y="2011680"/>
            <a:ext cx="1859280" cy="1188720"/>
          </a:xfrm>
          <a:prstGeom prst="rect">
            <a:avLst/>
          </a:prstGeom>
          <a:noFill/>
        </p:spPr>
        <p:txBody>
          <a:bodyPr wrap="square" anchor="ctr">
            <a:spAutoFit/>
          </a:bodyPr>
          <a:lstStyle/>
          <a:p>
            <a:pPr algn="ctr">
              <a:defRPr sz="3800" b="1">
                <a:solidFill>
                  <a:srgbClr val="003080"/>
                </a:solidFill>
                <a:latin typeface="Calibri"/>
              </a:defRPr>
            </a:pPr>
            <a:r>
              <a:t>2001–2009</a:t>
            </a:r>
          </a:p>
        </p:txBody>
      </p:sp>
      <p:sp>
        <p:nvSpPr>
          <p:cNvPr id="8" name="TextBox 7"/>
          <p:cNvSpPr txBox="1"/>
          <p:nvPr/>
        </p:nvSpPr>
        <p:spPr>
          <a:xfrm>
            <a:off x="3048000" y="3291840"/>
            <a:ext cx="1859280" cy="2468880"/>
          </a:xfrm>
          <a:prstGeom prst="rect">
            <a:avLst/>
          </a:prstGeom>
          <a:noFill/>
        </p:spPr>
        <p:txBody>
          <a:bodyPr wrap="square">
            <a:spAutoFit/>
          </a:bodyPr>
          <a:lstStyle/>
          <a:p>
            <a:pPr algn="ctr">
              <a:spcAft>
                <a:spcPts val="600"/>
              </a:spcAft>
              <a:defRPr sz="1800" b="0">
                <a:solidFill>
                  <a:srgbClr val="1C1C1C"/>
                </a:solidFill>
                <a:latin typeface="Calibri"/>
              </a:defRPr>
            </a:pPr>
            <a:r>
              <a:t>Study period,</a:t>
            </a:r>
          </a:p>
          <a:p>
            <a:pPr algn="ctr">
              <a:spcAft>
                <a:spcPts val="600"/>
              </a:spcAft>
              <a:defRPr sz="1800" b="0">
                <a:solidFill>
                  <a:srgbClr val="1C1C1C"/>
                </a:solidFill>
                <a:latin typeface="Calibri"/>
              </a:defRPr>
            </a:pPr>
            <a:r>
              <a:t>40 CA counties</a:t>
            </a:r>
          </a:p>
        </p:txBody>
      </p:sp>
      <p:sp>
        <p:nvSpPr>
          <p:cNvPr id="9" name="TextBox 8"/>
          <p:cNvSpPr txBox="1"/>
          <p:nvPr/>
        </p:nvSpPr>
        <p:spPr>
          <a:xfrm>
            <a:off x="5273040" y="2011680"/>
            <a:ext cx="1859280" cy="1188720"/>
          </a:xfrm>
          <a:prstGeom prst="rect">
            <a:avLst/>
          </a:prstGeom>
          <a:noFill/>
        </p:spPr>
        <p:txBody>
          <a:bodyPr wrap="square" anchor="ctr">
            <a:spAutoFit/>
          </a:bodyPr>
          <a:lstStyle/>
          <a:p>
            <a:pPr algn="ctr">
              <a:defRPr sz="3800" b="1">
                <a:solidFill>
                  <a:srgbClr val="003080"/>
                </a:solidFill>
                <a:latin typeface="Calibri"/>
              </a:defRPr>
            </a:pPr>
            <a:r>
              <a:t>IV design</a:t>
            </a:r>
          </a:p>
        </p:txBody>
      </p:sp>
      <p:sp>
        <p:nvSpPr>
          <p:cNvPr id="10" name="TextBox 9"/>
          <p:cNvSpPr txBox="1"/>
          <p:nvPr/>
        </p:nvSpPr>
        <p:spPr>
          <a:xfrm>
            <a:off x="5273040" y="3291840"/>
            <a:ext cx="1859280" cy="2468880"/>
          </a:xfrm>
          <a:prstGeom prst="rect">
            <a:avLst/>
          </a:prstGeom>
          <a:noFill/>
        </p:spPr>
        <p:txBody>
          <a:bodyPr wrap="square">
            <a:spAutoFit/>
          </a:bodyPr>
          <a:lstStyle/>
          <a:p>
            <a:pPr algn="ctr">
              <a:spcAft>
                <a:spcPts val="600"/>
              </a:spcAft>
              <a:defRPr sz="1800" b="0">
                <a:solidFill>
                  <a:srgbClr val="1C1C1C"/>
                </a:solidFill>
                <a:latin typeface="Calibri"/>
              </a:defRPr>
            </a:pPr>
            <a:r>
              <a:t>Corrects reverse causation</a:t>
            </a:r>
          </a:p>
          <a:p>
            <a:pPr algn="ctr">
              <a:spcAft>
                <a:spcPts val="600"/>
              </a:spcAft>
              <a:defRPr sz="1800" b="0">
                <a:solidFill>
                  <a:srgbClr val="1C1C1C"/>
                </a:solidFill>
                <a:latin typeface="Calibri"/>
              </a:defRPr>
            </a:pPr>
            <a:r>
              <a:t>&amp; omitted variables</a:t>
            </a:r>
          </a:p>
          <a:p>
            <a:pPr algn="ctr">
              <a:spcAft>
                <a:spcPts val="600"/>
              </a:spcAft>
              <a:defRPr sz="1800" b="0">
                <a:solidFill>
                  <a:srgbClr val="1C1C1C"/>
                </a:solidFill>
                <a:latin typeface="Calibri"/>
              </a:defRPr>
            </a:pPr>
            <a:r>
              <a:t>(Koyck lag model)</a:t>
            </a:r>
          </a:p>
        </p:txBody>
      </p:sp>
      <p:pic>
        <p:nvPicPr>
          <p:cNvPr id="11" name="Picture 10" descr="roi-concept-multiplier.png"/>
          <p:cNvPicPr>
            <a:picLocks noChangeAspect="1"/>
          </p:cNvPicPr>
          <p:nvPr/>
        </p:nvPicPr>
        <p:blipFill>
          <a:blip r:embed="rId2"/>
          <a:stretch>
            <a:fillRect/>
          </a:stretch>
        </p:blipFill>
        <p:spPr>
          <a:xfrm>
            <a:off x="7360920" y="1783080"/>
            <a:ext cx="4206240" cy="4206240"/>
          </a:xfrm>
          <a:prstGeom prst="rect">
            <a:avLst/>
          </a:prstGeom>
        </p:spPr>
      </p:pic>
      <p:sp>
        <p:nvSpPr>
          <p:cNvPr id="12" name="TextBox 11"/>
          <p:cNvSpPr txBox="1"/>
          <p:nvPr/>
        </p:nvSpPr>
        <p:spPr>
          <a:xfrm>
            <a:off x="640080" y="6355080"/>
            <a:ext cx="10881360" cy="411480"/>
          </a:xfrm>
          <a:prstGeom prst="rect">
            <a:avLst/>
          </a:prstGeom>
          <a:noFill/>
        </p:spPr>
        <p:txBody>
          <a:bodyPr wrap="square">
            <a:spAutoFit/>
          </a:bodyPr>
          <a:lstStyle/>
          <a:p>
            <a:pPr algn="l">
              <a:defRPr sz="1300" b="0">
                <a:solidFill>
                  <a:srgbClr val="424242"/>
                </a:solidFill>
                <a:latin typeface="Calibri"/>
              </a:defRPr>
            </a:pPr>
            <a:r>
              <a:t>Brown TT. Returns on Investment in CA County Departments of Public Health. Am J Public Health 2016;106(8):1477–1482.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A77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881360" cy="960120"/>
          </a:xfrm>
          <a:prstGeom prst="rect">
            <a:avLst/>
          </a:prstGeom>
          <a:noFill/>
        </p:spPr>
        <p:txBody>
          <a:bodyPr wrap="square">
            <a:spAutoFit/>
          </a:bodyPr>
          <a:lstStyle/>
          <a:p>
            <a:pPr algn="l">
              <a:defRPr sz="2800" b="1">
                <a:solidFill>
                  <a:srgbClr val="003080"/>
                </a:solidFill>
                <a:latin typeface="Calibri"/>
              </a:defRPr>
            </a:pPr>
            <a:r>
              <a:t>Why Measuring Prevention's Value Is Hard</a:t>
            </a:r>
          </a:p>
        </p:txBody>
      </p:sp>
      <p:sp>
        <p:nvSpPr>
          <p:cNvPr id="5" name="TextBox 4"/>
          <p:cNvSpPr txBox="1"/>
          <p:nvPr/>
        </p:nvSpPr>
        <p:spPr>
          <a:xfrm>
            <a:off x="822960" y="1508760"/>
            <a:ext cx="6309360" cy="4663440"/>
          </a:xfrm>
          <a:prstGeom prst="rect">
            <a:avLst/>
          </a:prstGeom>
          <a:noFill/>
        </p:spPr>
        <p:txBody>
          <a:bodyPr wrap="square">
            <a:spAutoFit/>
          </a:bodyPr>
          <a:lstStyle/>
          <a:p>
            <a:pPr algn="l">
              <a:spcAft>
                <a:spcPts val="1000"/>
              </a:spcAft>
              <a:defRPr sz="2000" b="0">
                <a:solidFill>
                  <a:srgbClr val="1C1C1C"/>
                </a:solidFill>
                <a:latin typeface="Calibri"/>
              </a:defRPr>
            </a:pPr>
            <a:r>
              <a:t>•  The counterfactual is invisible</a:t>
            </a:r>
          </a:p>
          <a:p>
            <a:pPr algn="l">
              <a:spcAft>
                <a:spcPts val="600"/>
              </a:spcAft>
              <a:defRPr sz="1900" b="0">
                <a:solidFill>
                  <a:srgbClr val="424242"/>
                </a:solidFill>
                <a:latin typeface="Calibri"/>
              </a:defRPr>
            </a:pPr>
            <a:r>
              <a:t>       –  we count events that did not happen</a:t>
            </a:r>
          </a:p>
          <a:p>
            <a:pPr algn="l">
              <a:spcAft>
                <a:spcPts val="1000"/>
              </a:spcAft>
              <a:defRPr sz="2000" b="0">
                <a:solidFill>
                  <a:srgbClr val="1C1C1C"/>
                </a:solidFill>
                <a:latin typeface="Calibri"/>
              </a:defRPr>
            </a:pPr>
            <a:r>
              <a:t>•  Benefits are diffuse and delayed</a:t>
            </a:r>
          </a:p>
          <a:p>
            <a:pPr algn="l">
              <a:spcAft>
                <a:spcPts val="600"/>
              </a:spcAft>
              <a:defRPr sz="1900" b="0">
                <a:solidFill>
                  <a:srgbClr val="424242"/>
                </a:solidFill>
                <a:latin typeface="Calibri"/>
              </a:defRPr>
            </a:pPr>
            <a:r>
              <a:t>       –  costs come now; payoffs arrive years later</a:t>
            </a:r>
          </a:p>
          <a:p>
            <a:pPr algn="l">
              <a:spcAft>
                <a:spcPts val="1000"/>
              </a:spcAft>
              <a:defRPr sz="2000" b="0">
                <a:solidFill>
                  <a:srgbClr val="1C1C1C"/>
                </a:solidFill>
                <a:latin typeface="Calibri"/>
              </a:defRPr>
            </a:pPr>
            <a:r>
              <a:t>•  "Public health" spending is mixed</a:t>
            </a:r>
          </a:p>
          <a:p>
            <a:pPr algn="l">
              <a:spcAft>
                <a:spcPts val="600"/>
              </a:spcAft>
              <a:defRPr sz="1900" b="0">
                <a:solidFill>
                  <a:srgbClr val="424242"/>
                </a:solidFill>
                <a:latin typeface="Calibri"/>
              </a:defRPr>
            </a:pPr>
            <a:r>
              <a:t>       –  clinical care, admin, emergency response</a:t>
            </a:r>
          </a:p>
          <a:p>
            <a:pPr algn="l">
              <a:spcAft>
                <a:spcPts val="600"/>
              </a:spcAft>
              <a:defRPr sz="1900" b="0">
                <a:solidFill>
                  <a:srgbClr val="424242"/>
                </a:solidFill>
                <a:latin typeface="Calibri"/>
              </a:defRPr>
            </a:pPr>
            <a:r>
              <a:t>       –  prevention is 40–60% of county budgets</a:t>
            </a:r>
          </a:p>
          <a:p>
            <a:pPr algn="l">
              <a:spcAft>
                <a:spcPts val="1000"/>
              </a:spcAft>
              <a:defRPr sz="2000" b="0">
                <a:solidFill>
                  <a:srgbClr val="1C1C1C"/>
                </a:solidFill>
                <a:latin typeface="Calibri"/>
              </a:defRPr>
            </a:pPr>
            <a:r>
              <a:t>•  Lumping it together can understate ROI</a:t>
            </a:r>
          </a:p>
        </p:txBody>
      </p:sp>
      <p:pic>
        <p:nvPicPr>
          <p:cNvPr id="6" name="Picture 5" descr="roi-concept-investment.png"/>
          <p:cNvPicPr>
            <a:picLocks noChangeAspect="1"/>
          </p:cNvPicPr>
          <p:nvPr/>
        </p:nvPicPr>
        <p:blipFill>
          <a:blip r:embed="rId2"/>
          <a:stretch>
            <a:fillRect/>
          </a:stretch>
        </p:blipFill>
        <p:spPr>
          <a:xfrm>
            <a:off x="7360920" y="1600200"/>
            <a:ext cx="4206240" cy="42062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A77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377440"/>
            <a:ext cx="10360152" cy="731520"/>
          </a:xfrm>
          <a:prstGeom prst="rect">
            <a:avLst/>
          </a:prstGeom>
          <a:noFill/>
        </p:spPr>
        <p:txBody>
          <a:bodyPr wrap="square">
            <a:spAutoFit/>
          </a:bodyPr>
          <a:lstStyle/>
          <a:p>
            <a:pPr algn="ctr">
              <a:defRPr sz="2200" b="1">
                <a:solidFill>
                  <a:srgbClr val="003080"/>
                </a:solidFill>
                <a:latin typeface="Calibri"/>
              </a:defRPr>
            </a:pPr>
            <a:r>
              <a:t>Our Research</a:t>
            </a:r>
          </a:p>
        </p:txBody>
      </p:sp>
      <p:sp>
        <p:nvSpPr>
          <p:cNvPr id="5" name="TextBox 4"/>
          <p:cNvSpPr txBox="1"/>
          <p:nvPr/>
        </p:nvSpPr>
        <p:spPr>
          <a:xfrm>
            <a:off x="914400" y="3200400"/>
            <a:ext cx="10360152" cy="1280160"/>
          </a:xfrm>
          <a:prstGeom prst="rect">
            <a:avLst/>
          </a:prstGeom>
          <a:noFill/>
        </p:spPr>
        <p:txBody>
          <a:bodyPr wrap="square">
            <a:spAutoFit/>
          </a:bodyPr>
          <a:lstStyle/>
          <a:p>
            <a:pPr algn="ctr">
              <a:defRPr sz="4000" b="1">
                <a:solidFill>
                  <a:srgbClr val="1C1C1C"/>
                </a:solidFill>
                <a:latin typeface="Calibri"/>
              </a:defRPr>
            </a:pPr>
            <a:r>
              <a:t>New California Evidence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A77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881360" cy="960120"/>
          </a:xfrm>
          <a:prstGeom prst="rect">
            <a:avLst/>
          </a:prstGeom>
          <a:noFill/>
        </p:spPr>
        <p:txBody>
          <a:bodyPr wrap="square">
            <a:spAutoFit/>
          </a:bodyPr>
          <a:lstStyle/>
          <a:p>
            <a:pPr algn="l">
              <a:defRPr sz="2800" b="1">
                <a:solidFill>
                  <a:srgbClr val="003080"/>
                </a:solidFill>
                <a:latin typeface="Calibri"/>
              </a:defRPr>
            </a:pPr>
            <a:r>
              <a:t>What We Did: Replicate and Extend Brown</a:t>
            </a:r>
          </a:p>
        </p:txBody>
      </p:sp>
      <p:sp>
        <p:nvSpPr>
          <p:cNvPr id="5" name="TextBox 4"/>
          <p:cNvSpPr txBox="1"/>
          <p:nvPr/>
        </p:nvSpPr>
        <p:spPr>
          <a:xfrm>
            <a:off x="822960" y="1508760"/>
            <a:ext cx="6309360" cy="4663440"/>
          </a:xfrm>
          <a:prstGeom prst="rect">
            <a:avLst/>
          </a:prstGeom>
          <a:noFill/>
        </p:spPr>
        <p:txBody>
          <a:bodyPr wrap="square">
            <a:spAutoFit/>
          </a:bodyPr>
          <a:lstStyle/>
          <a:p>
            <a:pPr algn="l">
              <a:spcAft>
                <a:spcPts val="1000"/>
              </a:spcAft>
              <a:defRPr sz="2000" b="0">
                <a:solidFill>
                  <a:srgbClr val="1C1C1C"/>
                </a:solidFill>
                <a:latin typeface="Calibri"/>
              </a:defRPr>
            </a:pPr>
            <a:r>
              <a:t>•  California, all 57 counties, 2003–2023</a:t>
            </a:r>
          </a:p>
          <a:p>
            <a:pPr algn="l">
              <a:spcAft>
                <a:spcPts val="600"/>
              </a:spcAft>
              <a:defRPr sz="1900" b="0">
                <a:solidFill>
                  <a:srgbClr val="424242"/>
                </a:solidFill>
                <a:latin typeface="Calibri"/>
              </a:defRPr>
            </a:pPr>
            <a:r>
              <a:t>       –  1,197 county-year observations</a:t>
            </a:r>
          </a:p>
          <a:p>
            <a:pPr algn="l">
              <a:spcAft>
                <a:spcPts val="1000"/>
              </a:spcAft>
              <a:defRPr sz="2000" b="0">
                <a:solidFill>
                  <a:srgbClr val="1C1C1C"/>
                </a:solidFill>
                <a:latin typeface="Calibri"/>
              </a:defRPr>
            </a:pPr>
            <a:r>
              <a:t>•  Same method as Brown: Lewbel (2012) IV</a:t>
            </a:r>
          </a:p>
          <a:p>
            <a:pPr algn="l">
              <a:spcAft>
                <a:spcPts val="600"/>
              </a:spcAft>
              <a:defRPr sz="1900" b="0">
                <a:solidFill>
                  <a:srgbClr val="424242"/>
                </a:solidFill>
                <a:latin typeface="Calibri"/>
              </a:defRPr>
            </a:pPr>
            <a:r>
              <a:t>       –  internal instruments from heteroskedasticity</a:t>
            </a:r>
          </a:p>
          <a:p>
            <a:pPr algn="l">
              <a:spcAft>
                <a:spcPts val="600"/>
              </a:spcAft>
              <a:defRPr sz="1900" b="0">
                <a:solidFill>
                  <a:srgbClr val="424242"/>
                </a:solidFill>
                <a:latin typeface="Calibri"/>
              </a:defRPr>
            </a:pPr>
            <a:r>
              <a:t>       –  no hard-to-find external instrument needed</a:t>
            </a:r>
          </a:p>
          <a:p>
            <a:pPr algn="l">
              <a:spcAft>
                <a:spcPts val="1000"/>
              </a:spcAft>
              <a:defRPr sz="2000" b="0">
                <a:solidFill>
                  <a:srgbClr val="1C1C1C"/>
                </a:solidFill>
                <a:latin typeface="Calibri"/>
              </a:defRPr>
            </a:pPr>
            <a:r>
              <a:t>•  Outcome: all-cause mortality per 100,000</a:t>
            </a:r>
          </a:p>
          <a:p>
            <a:pPr algn="l">
              <a:spcAft>
                <a:spcPts val="1000"/>
              </a:spcAft>
              <a:defRPr sz="2000" b="0">
                <a:solidFill>
                  <a:srgbClr val="1C1C1C"/>
                </a:solidFill>
                <a:latin typeface="Calibri"/>
              </a:defRPr>
            </a:pPr>
            <a:r>
              <a:t>•  Built from detailed county financial reports</a:t>
            </a:r>
          </a:p>
          <a:p>
            <a:pPr algn="l">
              <a:spcAft>
                <a:spcPts val="600"/>
              </a:spcAft>
              <a:defRPr sz="1900" b="0">
                <a:solidFill>
                  <a:srgbClr val="424242"/>
                </a:solidFill>
                <a:latin typeface="Calibri"/>
              </a:defRPr>
            </a:pPr>
            <a:r>
              <a:t>       –  validated with county health officers</a:t>
            </a:r>
          </a:p>
        </p:txBody>
      </p:sp>
      <p:pic>
        <p:nvPicPr>
          <p:cNvPr id="6" name="Picture 5" descr="cea-hero-california.png"/>
          <p:cNvPicPr>
            <a:picLocks noChangeAspect="1"/>
          </p:cNvPicPr>
          <p:nvPr/>
        </p:nvPicPr>
        <p:blipFill>
          <a:blip r:embed="rId2"/>
          <a:stretch>
            <a:fillRect/>
          </a:stretch>
        </p:blipFill>
        <p:spPr>
          <a:xfrm>
            <a:off x="7360920" y="1600200"/>
            <a:ext cx="4206240" cy="4206240"/>
          </a:xfrm>
          <a:prstGeom prst="rect">
            <a:avLst/>
          </a:prstGeom>
        </p:spPr>
      </p:pic>
      <p:sp>
        <p:nvSpPr>
          <p:cNvPr id="7" name="TextBox 6"/>
          <p:cNvSpPr txBox="1"/>
          <p:nvPr/>
        </p:nvSpPr>
        <p:spPr>
          <a:xfrm>
            <a:off x="640080" y="6355080"/>
            <a:ext cx="10881360" cy="411480"/>
          </a:xfrm>
          <a:prstGeom prst="rect">
            <a:avLst/>
          </a:prstGeom>
          <a:noFill/>
        </p:spPr>
        <p:txBody>
          <a:bodyPr wrap="square">
            <a:spAutoFit/>
          </a:bodyPr>
          <a:lstStyle/>
          <a:p>
            <a:pPr algn="l">
              <a:defRPr sz="1300" b="0">
                <a:solidFill>
                  <a:srgbClr val="424242"/>
                </a:solidFill>
                <a:latin typeface="Calibri"/>
              </a:defRPr>
            </a:pPr>
            <a:r>
              <a:t>Our working paper (2025); replicates and extends Brown (2016).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A77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881360" cy="960120"/>
          </a:xfrm>
          <a:prstGeom prst="rect">
            <a:avLst/>
          </a:prstGeom>
          <a:noFill/>
        </p:spPr>
        <p:txBody>
          <a:bodyPr wrap="square">
            <a:spAutoFit/>
          </a:bodyPr>
          <a:lstStyle/>
          <a:p>
            <a:pPr algn="l">
              <a:defRPr sz="2800" b="1">
                <a:solidFill>
                  <a:srgbClr val="003080"/>
                </a:solidFill>
                <a:latin typeface="Calibri"/>
              </a:defRPr>
            </a:pPr>
            <a:r>
              <a:t>We Reproduced Brown — and the Bias He Corrected</a:t>
            </a:r>
          </a:p>
        </p:txBody>
      </p:sp>
      <p:sp>
        <p:nvSpPr>
          <p:cNvPr id="5" name="TextBox 4"/>
          <p:cNvSpPr txBox="1"/>
          <p:nvPr/>
        </p:nvSpPr>
        <p:spPr>
          <a:xfrm>
            <a:off x="822960" y="2011680"/>
            <a:ext cx="3291839" cy="1188720"/>
          </a:xfrm>
          <a:prstGeom prst="rect">
            <a:avLst/>
          </a:prstGeom>
          <a:noFill/>
        </p:spPr>
        <p:txBody>
          <a:bodyPr wrap="square" anchor="ctr">
            <a:spAutoFit/>
          </a:bodyPr>
          <a:lstStyle/>
          <a:p>
            <a:pPr algn="ctr">
              <a:defRPr sz="3800" b="1">
                <a:solidFill>
                  <a:srgbClr val="003080"/>
                </a:solidFill>
                <a:latin typeface="Calibri"/>
              </a:defRPr>
            </a:pPr>
            <a:r>
              <a:t>−9.16</a:t>
            </a:r>
          </a:p>
        </p:txBody>
      </p:sp>
      <p:sp>
        <p:nvSpPr>
          <p:cNvPr id="6" name="TextBox 5"/>
          <p:cNvSpPr txBox="1"/>
          <p:nvPr/>
        </p:nvSpPr>
        <p:spPr>
          <a:xfrm>
            <a:off x="822960" y="3291840"/>
            <a:ext cx="3291839" cy="2468880"/>
          </a:xfrm>
          <a:prstGeom prst="rect">
            <a:avLst/>
          </a:prstGeom>
          <a:noFill/>
        </p:spPr>
        <p:txBody>
          <a:bodyPr wrap="square">
            <a:spAutoFit/>
          </a:bodyPr>
          <a:lstStyle/>
          <a:p>
            <a:pPr algn="ctr">
              <a:spcAft>
                <a:spcPts val="600"/>
              </a:spcAft>
              <a:defRPr sz="1800" b="0">
                <a:solidFill>
                  <a:srgbClr val="1C1C1C"/>
                </a:solidFill>
                <a:latin typeface="Calibri"/>
              </a:defRPr>
            </a:pPr>
            <a:r>
              <a:t>Our Lewbel IV estimate</a:t>
            </a:r>
          </a:p>
          <a:p>
            <a:pPr algn="ctr">
              <a:spcAft>
                <a:spcPts val="600"/>
              </a:spcAft>
              <a:defRPr sz="1800" b="0">
                <a:solidFill>
                  <a:srgbClr val="1C1C1C"/>
                </a:solidFill>
                <a:latin typeface="Calibri"/>
              </a:defRPr>
            </a:pPr>
            <a:r>
              <a:t>Brown (2016): −9.1</a:t>
            </a:r>
          </a:p>
          <a:p>
            <a:pPr algn="ctr">
              <a:spcAft>
                <a:spcPts val="600"/>
              </a:spcAft>
              <a:defRPr sz="1800" b="0">
                <a:solidFill>
                  <a:srgbClr val="1C1C1C"/>
                </a:solidFill>
                <a:latin typeface="Calibri"/>
              </a:defRPr>
            </a:pPr>
            <a:r>
              <a:t>a close match</a:t>
            </a:r>
          </a:p>
        </p:txBody>
      </p:sp>
      <p:sp>
        <p:nvSpPr>
          <p:cNvPr id="7" name="TextBox 6"/>
          <p:cNvSpPr txBox="1"/>
          <p:nvPr/>
        </p:nvSpPr>
        <p:spPr>
          <a:xfrm>
            <a:off x="4480559" y="2011680"/>
            <a:ext cx="3291839" cy="1188720"/>
          </a:xfrm>
          <a:prstGeom prst="rect">
            <a:avLst/>
          </a:prstGeom>
          <a:noFill/>
        </p:spPr>
        <p:txBody>
          <a:bodyPr wrap="square" anchor="ctr">
            <a:spAutoFit/>
          </a:bodyPr>
          <a:lstStyle/>
          <a:p>
            <a:pPr algn="ctr">
              <a:defRPr sz="3800" b="1">
                <a:solidFill>
                  <a:srgbClr val="003080"/>
                </a:solidFill>
                <a:latin typeface="Calibri"/>
              </a:defRPr>
            </a:pPr>
            <a:r>
              <a:t>0.18</a:t>
            </a:r>
          </a:p>
        </p:txBody>
      </p:sp>
      <p:sp>
        <p:nvSpPr>
          <p:cNvPr id="8" name="TextBox 7"/>
          <p:cNvSpPr txBox="1"/>
          <p:nvPr/>
        </p:nvSpPr>
        <p:spPr>
          <a:xfrm>
            <a:off x="4480559" y="3291840"/>
            <a:ext cx="3291839" cy="2468880"/>
          </a:xfrm>
          <a:prstGeom prst="rect">
            <a:avLst/>
          </a:prstGeom>
          <a:noFill/>
        </p:spPr>
        <p:txBody>
          <a:bodyPr wrap="square">
            <a:spAutoFit/>
          </a:bodyPr>
          <a:lstStyle/>
          <a:p>
            <a:pPr algn="ctr">
              <a:spcAft>
                <a:spcPts val="600"/>
              </a:spcAft>
              <a:defRPr sz="1800" b="0">
                <a:solidFill>
                  <a:srgbClr val="1C1C1C"/>
                </a:solidFill>
                <a:latin typeface="Calibri"/>
              </a:defRPr>
            </a:pPr>
            <a:r>
              <a:t>Plain OLS estimate</a:t>
            </a:r>
          </a:p>
          <a:p>
            <a:pPr algn="ctr">
              <a:spcAft>
                <a:spcPts val="600"/>
              </a:spcAft>
              <a:defRPr sz="1800" b="0">
                <a:solidFill>
                  <a:srgbClr val="1C1C1C"/>
                </a:solidFill>
                <a:latin typeface="Calibri"/>
              </a:defRPr>
            </a:pPr>
            <a:r>
              <a:t>null (p = 0.64)</a:t>
            </a:r>
          </a:p>
          <a:p>
            <a:pPr algn="ctr">
              <a:spcAft>
                <a:spcPts val="600"/>
              </a:spcAft>
              <a:defRPr sz="1800" b="0">
                <a:solidFill>
                  <a:srgbClr val="1C1C1C"/>
                </a:solidFill>
                <a:latin typeface="Calibri"/>
              </a:defRPr>
            </a:pPr>
            <a:r>
              <a:t>wrong sign</a:t>
            </a:r>
          </a:p>
        </p:txBody>
      </p:sp>
      <p:sp>
        <p:nvSpPr>
          <p:cNvPr id="9" name="TextBox 8"/>
          <p:cNvSpPr txBox="1"/>
          <p:nvPr/>
        </p:nvSpPr>
        <p:spPr>
          <a:xfrm>
            <a:off x="8138159" y="2011680"/>
            <a:ext cx="3291839" cy="1188720"/>
          </a:xfrm>
          <a:prstGeom prst="rect">
            <a:avLst/>
          </a:prstGeom>
          <a:noFill/>
        </p:spPr>
        <p:txBody>
          <a:bodyPr wrap="square" anchor="ctr">
            <a:spAutoFit/>
          </a:bodyPr>
          <a:lstStyle/>
          <a:p>
            <a:pPr algn="ctr">
              <a:defRPr sz="3800" b="1">
                <a:solidFill>
                  <a:srgbClr val="003080"/>
                </a:solidFill>
                <a:latin typeface="Calibri"/>
              </a:defRPr>
            </a:pPr>
            <a:r>
              <a:t>50×</a:t>
            </a:r>
          </a:p>
        </p:txBody>
      </p:sp>
      <p:sp>
        <p:nvSpPr>
          <p:cNvPr id="10" name="TextBox 9"/>
          <p:cNvSpPr txBox="1"/>
          <p:nvPr/>
        </p:nvSpPr>
        <p:spPr>
          <a:xfrm>
            <a:off x="8138159" y="3291840"/>
            <a:ext cx="3291839" cy="2468880"/>
          </a:xfrm>
          <a:prstGeom prst="rect">
            <a:avLst/>
          </a:prstGeom>
          <a:noFill/>
        </p:spPr>
        <p:txBody>
          <a:bodyPr wrap="square">
            <a:spAutoFit/>
          </a:bodyPr>
          <a:lstStyle/>
          <a:p>
            <a:pPr algn="ctr">
              <a:spcAft>
                <a:spcPts val="600"/>
              </a:spcAft>
              <a:defRPr sz="1800" b="0">
                <a:solidFill>
                  <a:srgbClr val="1C1C1C"/>
                </a:solidFill>
                <a:latin typeface="Calibri"/>
              </a:defRPr>
            </a:pPr>
            <a:r>
              <a:t>Gap between OLS</a:t>
            </a:r>
          </a:p>
          <a:p>
            <a:pPr algn="ctr">
              <a:spcAft>
                <a:spcPts val="600"/>
              </a:spcAft>
              <a:defRPr sz="1800" b="0">
                <a:solidFill>
                  <a:srgbClr val="1C1C1C"/>
                </a:solidFill>
                <a:latin typeface="Calibri"/>
              </a:defRPr>
            </a:pPr>
            <a:r>
              <a:t>and IV — the size</a:t>
            </a:r>
          </a:p>
          <a:p>
            <a:pPr algn="ctr">
              <a:spcAft>
                <a:spcPts val="600"/>
              </a:spcAft>
              <a:defRPr sz="1800" b="0">
                <a:solidFill>
                  <a:srgbClr val="1C1C1C"/>
                </a:solidFill>
                <a:latin typeface="Calibri"/>
              </a:defRPr>
            </a:pPr>
            <a:r>
              <a:t>of the bias</a:t>
            </a:r>
          </a:p>
        </p:txBody>
      </p:sp>
      <p:sp>
        <p:nvSpPr>
          <p:cNvPr id="11" name="TextBox 10"/>
          <p:cNvSpPr txBox="1"/>
          <p:nvPr/>
        </p:nvSpPr>
        <p:spPr>
          <a:xfrm>
            <a:off x="640080" y="6355080"/>
            <a:ext cx="10881360" cy="411480"/>
          </a:xfrm>
          <a:prstGeom prst="rect">
            <a:avLst/>
          </a:prstGeom>
          <a:noFill/>
        </p:spPr>
        <p:txBody>
          <a:bodyPr wrap="square">
            <a:spAutoFit/>
          </a:bodyPr>
          <a:lstStyle/>
          <a:p>
            <a:pPr algn="l">
              <a:defRPr sz="1300" b="0">
                <a:solidFill>
                  <a:srgbClr val="424242"/>
                </a:solidFill>
                <a:latin typeface="Calibri"/>
              </a:defRPr>
            </a:pPr>
            <a:r>
              <a:t>Reverse causation: mortality shocks raise spending later, hiding the benefit in OLS.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A77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881360" cy="960120"/>
          </a:xfrm>
          <a:prstGeom prst="rect">
            <a:avLst/>
          </a:prstGeom>
          <a:noFill/>
        </p:spPr>
        <p:txBody>
          <a:bodyPr wrap="square">
            <a:spAutoFit/>
          </a:bodyPr>
          <a:lstStyle/>
          <a:p>
            <a:pPr algn="l">
              <a:defRPr sz="2800" b="1">
                <a:solidFill>
                  <a:srgbClr val="003080"/>
                </a:solidFill>
                <a:latin typeface="Calibri"/>
              </a:defRPr>
            </a:pPr>
            <a:r>
              <a:t>The Bias, Made Visible</a:t>
            </a:r>
          </a:p>
        </p:txBody>
      </p:sp>
      <p:pic>
        <p:nvPicPr>
          <p:cNvPr id="5" name="Picture 4" descr="figure_3_ols_vs_iv.png"/>
          <p:cNvPicPr>
            <a:picLocks noChangeAspect="1"/>
          </p:cNvPicPr>
          <p:nvPr/>
        </p:nvPicPr>
        <p:blipFill>
          <a:blip r:embed="rId2"/>
          <a:stretch>
            <a:fillRect/>
          </a:stretch>
        </p:blipFill>
        <p:spPr>
          <a:xfrm>
            <a:off x="2438247" y="1417320"/>
            <a:ext cx="7315200" cy="4608576"/>
          </a:xfrm>
          <a:prstGeom prst="rect">
            <a:avLst/>
          </a:prstGeom>
        </p:spPr>
      </p:pic>
      <p:sp>
        <p:nvSpPr>
          <p:cNvPr id="6" name="TextBox 5"/>
          <p:cNvSpPr txBox="1"/>
          <p:nvPr/>
        </p:nvSpPr>
        <p:spPr>
          <a:xfrm>
            <a:off x="822960" y="6071616"/>
            <a:ext cx="10515600" cy="457200"/>
          </a:xfrm>
          <a:prstGeom prst="rect">
            <a:avLst/>
          </a:prstGeom>
          <a:noFill/>
        </p:spPr>
        <p:txBody>
          <a:bodyPr wrap="square">
            <a:spAutoFit/>
          </a:bodyPr>
          <a:lstStyle/>
          <a:p>
            <a:pPr algn="ctr">
              <a:defRPr sz="1500" b="0">
                <a:solidFill>
                  <a:srgbClr val="424242"/>
                </a:solidFill>
                <a:latin typeface="Calibri"/>
              </a:defRPr>
            </a:pPr>
            <a:r>
              <a:t>Plain OLS shows no effect; Lewbel IV reveals a large mortality reduction.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A77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881360" cy="960120"/>
          </a:xfrm>
          <a:prstGeom prst="rect">
            <a:avLst/>
          </a:prstGeom>
          <a:noFill/>
        </p:spPr>
        <p:txBody>
          <a:bodyPr wrap="square">
            <a:spAutoFit/>
          </a:bodyPr>
          <a:lstStyle/>
          <a:p>
            <a:pPr algn="l">
              <a:defRPr sz="2800" b="1">
                <a:solidFill>
                  <a:srgbClr val="003080"/>
                </a:solidFill>
                <a:latin typeface="Calibri"/>
              </a:defRPr>
            </a:pPr>
            <a:r>
              <a:t>The Result Holds Up</a:t>
            </a:r>
          </a:p>
        </p:txBody>
      </p:sp>
      <p:sp>
        <p:nvSpPr>
          <p:cNvPr id="5" name="TextBox 4"/>
          <p:cNvSpPr txBox="1"/>
          <p:nvPr/>
        </p:nvSpPr>
        <p:spPr>
          <a:xfrm>
            <a:off x="822960" y="1508760"/>
            <a:ext cx="10607040" cy="4663440"/>
          </a:xfrm>
          <a:prstGeom prst="rect">
            <a:avLst/>
          </a:prstGeom>
          <a:noFill/>
        </p:spPr>
        <p:txBody>
          <a:bodyPr wrap="square">
            <a:spAutoFit/>
          </a:bodyPr>
          <a:lstStyle/>
          <a:p>
            <a:pPr algn="l">
              <a:spcAft>
                <a:spcPts val="1000"/>
              </a:spcAft>
              <a:defRPr sz="2000" b="0">
                <a:solidFill>
                  <a:srgbClr val="1C1C1C"/>
                </a:solidFill>
                <a:latin typeface="Calibri"/>
              </a:defRPr>
            </a:pPr>
            <a:r>
              <a:t>•  47 alternative specifications tested</a:t>
            </a:r>
          </a:p>
          <a:p>
            <a:pPr algn="l">
              <a:spcAft>
                <a:spcPts val="600"/>
              </a:spcAft>
              <a:defRPr sz="1900" b="0">
                <a:solidFill>
                  <a:srgbClr val="424242"/>
                </a:solidFill>
                <a:latin typeface="Calibri"/>
              </a:defRPr>
            </a:pPr>
            <a:r>
              <a:t>       –  46 of 47 stay significant and beneficial</a:t>
            </a:r>
          </a:p>
          <a:p>
            <a:pPr algn="l">
              <a:spcAft>
                <a:spcPts val="1000"/>
              </a:spcAft>
              <a:defRPr sz="2000" b="0">
                <a:solidFill>
                  <a:srgbClr val="1C1C1C"/>
                </a:solidFill>
                <a:latin typeface="Calibri"/>
              </a:defRPr>
            </a:pPr>
            <a:r>
              <a:t>•  Drop any one county: the estimate barely moves</a:t>
            </a:r>
          </a:p>
          <a:p>
            <a:pPr algn="l">
              <a:spcAft>
                <a:spcPts val="600"/>
              </a:spcAft>
              <a:defRPr sz="1900" b="0">
                <a:solidFill>
                  <a:srgbClr val="424242"/>
                </a:solidFill>
                <a:latin typeface="Calibri"/>
              </a:defRPr>
            </a:pPr>
            <a:r>
              <a:t>       –  leave-one-out SD = 0.052</a:t>
            </a:r>
          </a:p>
          <a:p>
            <a:pPr algn="l">
              <a:spcAft>
                <a:spcPts val="1000"/>
              </a:spcAft>
              <a:defRPr sz="2000" b="0">
                <a:solidFill>
                  <a:srgbClr val="1C1C1C"/>
                </a:solidFill>
                <a:latin typeface="Calibri"/>
              </a:defRPr>
            </a:pPr>
            <a:r>
              <a:t>•  Benefit concentrates in small counties</a:t>
            </a:r>
          </a:p>
          <a:p>
            <a:pPr algn="l">
              <a:spcAft>
                <a:spcPts val="600"/>
              </a:spcAft>
              <a:defRPr sz="1900" b="0">
                <a:solidFill>
                  <a:srgbClr val="424242"/>
                </a:solidFill>
                <a:latin typeface="Calibri"/>
              </a:defRPr>
            </a:pPr>
            <a:r>
              <a:t>       –  −8.11 in small counties; not detectable in large</a:t>
            </a:r>
          </a:p>
          <a:p>
            <a:pPr algn="l">
              <a:spcAft>
                <a:spcPts val="600"/>
              </a:spcAft>
              <a:defRPr sz="1900" b="0">
                <a:solidFill>
                  <a:srgbClr val="424242"/>
                </a:solidFill>
                <a:latin typeface="Calibri"/>
              </a:defRPr>
            </a:pPr>
            <a:r>
              <a:t>       –  a power limit, not an absent benefit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A77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6309360" cy="548640"/>
          </a:xfrm>
          <a:prstGeom prst="rect">
            <a:avLst/>
          </a:prstGeom>
          <a:noFill/>
        </p:spPr>
        <p:txBody>
          <a:bodyPr wrap="square">
            <a:spAutoFit/>
          </a:bodyPr>
          <a:lstStyle/>
          <a:p>
            <a:pPr algn="l">
              <a:defRPr sz="2000" b="1">
                <a:solidFill>
                  <a:srgbClr val="003080"/>
                </a:solidFill>
                <a:latin typeface="Calibri"/>
              </a:defRPr>
            </a:pPr>
            <a:r>
              <a:t>THE MAIN FINDING</a:t>
            </a:r>
          </a:p>
        </p:txBody>
      </p:sp>
      <p:sp>
        <p:nvSpPr>
          <p:cNvPr id="5" name="TextBox 4"/>
          <p:cNvSpPr txBox="1"/>
          <p:nvPr/>
        </p:nvSpPr>
        <p:spPr>
          <a:xfrm>
            <a:off x="731520" y="1737360"/>
            <a:ext cx="6309360" cy="2194560"/>
          </a:xfrm>
          <a:prstGeom prst="rect">
            <a:avLst/>
          </a:prstGeom>
          <a:noFill/>
        </p:spPr>
        <p:txBody>
          <a:bodyPr wrap="square" anchor="ctr">
            <a:spAutoFit/>
          </a:bodyPr>
          <a:lstStyle/>
          <a:p>
            <a:pPr algn="l">
              <a:defRPr sz="2800" b="1">
                <a:solidFill>
                  <a:srgbClr val="1C1C1C"/>
                </a:solidFill>
                <a:latin typeface="Calibri"/>
              </a:defRPr>
            </a:pPr>
            <a:r>
              <a:t>Spending prevented about twice as much mortality in crisis years.</a:t>
            </a:r>
          </a:p>
        </p:txBody>
      </p:sp>
      <p:sp>
        <p:nvSpPr>
          <p:cNvPr id="6" name="TextBox 5"/>
          <p:cNvSpPr txBox="1"/>
          <p:nvPr/>
        </p:nvSpPr>
        <p:spPr>
          <a:xfrm>
            <a:off x="731520" y="4114800"/>
            <a:ext cx="6309360" cy="1920240"/>
          </a:xfrm>
          <a:prstGeom prst="rect">
            <a:avLst/>
          </a:prstGeom>
          <a:noFill/>
        </p:spPr>
        <p:txBody>
          <a:bodyPr wrap="square">
            <a:spAutoFit/>
          </a:bodyPr>
          <a:lstStyle/>
          <a:p>
            <a:pPr algn="l">
              <a:spcAft>
                <a:spcPts val="800"/>
              </a:spcAft>
              <a:defRPr sz="1900" b="0">
                <a:solidFill>
                  <a:srgbClr val="424242"/>
                </a:solidFill>
                <a:latin typeface="Calibri"/>
              </a:defRPr>
            </a:pPr>
            <a:r>
              <a:t>Effect excluding crisis years ≈4.6; including them ≈9.2 —</a:t>
            </a:r>
          </a:p>
          <a:p>
            <a:pPr algn="l">
              <a:spcAft>
                <a:spcPts val="800"/>
              </a:spcAft>
              <a:defRPr sz="1900" b="0">
                <a:solidFill>
                  <a:srgbClr val="424242"/>
                </a:solidFill>
                <a:latin typeface="Calibri"/>
              </a:defRPr>
            </a:pPr>
            <a:r>
              <a:t>about double. Standard analyses measure only normal</a:t>
            </a:r>
          </a:p>
          <a:p>
            <a:pPr algn="l">
              <a:spcAft>
                <a:spcPts val="800"/>
              </a:spcAft>
              <a:defRPr sz="1900" b="0">
                <a:solidFill>
                  <a:srgbClr val="424242"/>
                </a:solidFill>
                <a:latin typeface="Calibri"/>
              </a:defRPr>
            </a:pPr>
            <a:r>
              <a:t>times, so they may understate the value by 50–100%.</a:t>
            </a:r>
          </a:p>
        </p:txBody>
      </p:sp>
      <p:pic>
        <p:nvPicPr>
          <p:cNvPr id="7" name="Picture 6" descr="roi-concept-prevention-pays.png"/>
          <p:cNvPicPr>
            <a:picLocks noChangeAspect="1"/>
          </p:cNvPicPr>
          <p:nvPr/>
        </p:nvPicPr>
        <p:blipFill>
          <a:blip r:embed="rId2"/>
          <a:stretch>
            <a:fillRect/>
          </a:stretch>
        </p:blipFill>
        <p:spPr>
          <a:xfrm>
            <a:off x="7360920" y="1737360"/>
            <a:ext cx="4206240" cy="4206240"/>
          </a:xfrm>
          <a:prstGeom prst="rect">
            <a:avLst/>
          </a:prstGeom>
        </p:spPr>
      </p:pic>
      <p:sp>
        <p:nvSpPr>
          <p:cNvPr id="8" name="TextBox 7"/>
          <p:cNvSpPr txBox="1"/>
          <p:nvPr/>
        </p:nvSpPr>
        <p:spPr>
          <a:xfrm>
            <a:off x="640080" y="6355080"/>
            <a:ext cx="10881360" cy="411480"/>
          </a:xfrm>
          <a:prstGeom prst="rect">
            <a:avLst/>
          </a:prstGeom>
          <a:noFill/>
        </p:spPr>
        <p:txBody>
          <a:bodyPr wrap="square">
            <a:spAutoFit/>
          </a:bodyPr>
          <a:lstStyle/>
          <a:p>
            <a:pPr algn="l">
              <a:defRPr sz="1300" b="0">
                <a:solidFill>
                  <a:srgbClr val="424242"/>
                </a:solidFill>
                <a:latin typeface="Calibri"/>
              </a:defRPr>
            </a:pPr>
            <a:r>
              <a:t>The option value of capacity: it pays off most when a crisis hits.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A77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881360" cy="960120"/>
          </a:xfrm>
          <a:prstGeom prst="rect">
            <a:avLst/>
          </a:prstGeom>
          <a:noFill/>
        </p:spPr>
        <p:txBody>
          <a:bodyPr wrap="square">
            <a:spAutoFit/>
          </a:bodyPr>
          <a:lstStyle/>
          <a:p>
            <a:pPr algn="l">
              <a:defRPr sz="2800" b="1">
                <a:solidFill>
                  <a:srgbClr val="003080"/>
                </a:solidFill>
                <a:latin typeface="Calibri"/>
              </a:defRPr>
            </a:pPr>
            <a:r>
              <a:t>The Option Value of Capacity</a:t>
            </a:r>
          </a:p>
        </p:txBody>
      </p:sp>
      <p:pic>
        <p:nvPicPr>
          <p:cNvPr id="5" name="Picture 4" descr="figure_1_covid_option_value.png"/>
          <p:cNvPicPr>
            <a:picLocks noChangeAspect="1"/>
          </p:cNvPicPr>
          <p:nvPr/>
        </p:nvPicPr>
        <p:blipFill>
          <a:blip r:embed="rId2"/>
          <a:stretch>
            <a:fillRect/>
          </a:stretch>
        </p:blipFill>
        <p:spPr>
          <a:xfrm>
            <a:off x="2438247" y="1417320"/>
            <a:ext cx="7315200" cy="4608576"/>
          </a:xfrm>
          <a:prstGeom prst="rect">
            <a:avLst/>
          </a:prstGeom>
        </p:spPr>
      </p:pic>
      <p:sp>
        <p:nvSpPr>
          <p:cNvPr id="6" name="TextBox 5"/>
          <p:cNvSpPr txBox="1"/>
          <p:nvPr/>
        </p:nvSpPr>
        <p:spPr>
          <a:xfrm>
            <a:off x="822960" y="6071616"/>
            <a:ext cx="10515600" cy="457200"/>
          </a:xfrm>
          <a:prstGeom prst="rect">
            <a:avLst/>
          </a:prstGeom>
          <a:noFill/>
        </p:spPr>
        <p:txBody>
          <a:bodyPr wrap="square">
            <a:spAutoFit/>
          </a:bodyPr>
          <a:lstStyle/>
          <a:p>
            <a:pPr algn="ctr">
              <a:defRPr sz="1500" b="0">
                <a:solidFill>
                  <a:srgbClr val="424242"/>
                </a:solidFill>
                <a:latin typeface="Calibri"/>
              </a:defRPr>
            </a:pPr>
            <a:r>
              <a:t>The mortality effect roughly doubles once crisis years are included.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A77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6309360" cy="548640"/>
          </a:xfrm>
          <a:prstGeom prst="rect">
            <a:avLst/>
          </a:prstGeom>
          <a:noFill/>
        </p:spPr>
        <p:txBody>
          <a:bodyPr wrap="square">
            <a:spAutoFit/>
          </a:bodyPr>
          <a:lstStyle/>
          <a:p>
            <a:pPr algn="l">
              <a:defRPr sz="2000" b="1">
                <a:solidFill>
                  <a:srgbClr val="003080"/>
                </a:solidFill>
                <a:latin typeface="Calibri"/>
              </a:defRPr>
            </a:pPr>
            <a:r>
              <a:t>A SECOND FINDING</a:t>
            </a:r>
          </a:p>
        </p:txBody>
      </p:sp>
      <p:sp>
        <p:nvSpPr>
          <p:cNvPr id="5" name="TextBox 4"/>
          <p:cNvSpPr txBox="1"/>
          <p:nvPr/>
        </p:nvSpPr>
        <p:spPr>
          <a:xfrm>
            <a:off x="731520" y="1737360"/>
            <a:ext cx="6309360" cy="2194560"/>
          </a:xfrm>
          <a:prstGeom prst="rect">
            <a:avLst/>
          </a:prstGeom>
          <a:noFill/>
        </p:spPr>
        <p:txBody>
          <a:bodyPr wrap="square" anchor="ctr">
            <a:spAutoFit/>
          </a:bodyPr>
          <a:lstStyle/>
          <a:p>
            <a:pPr algn="l">
              <a:defRPr sz="2800" b="1">
                <a:solidFill>
                  <a:srgbClr val="1C1C1C"/>
                </a:solidFill>
                <a:latin typeface="Calibri"/>
              </a:defRPr>
            </a:pPr>
            <a:r>
              <a:t>Public health and healthcare access work better together.</a:t>
            </a:r>
          </a:p>
        </p:txBody>
      </p:sp>
      <p:sp>
        <p:nvSpPr>
          <p:cNvPr id="6" name="TextBox 5"/>
          <p:cNvSpPr txBox="1"/>
          <p:nvPr/>
        </p:nvSpPr>
        <p:spPr>
          <a:xfrm>
            <a:off x="731520" y="4114800"/>
            <a:ext cx="6309360" cy="1920240"/>
          </a:xfrm>
          <a:prstGeom prst="rect">
            <a:avLst/>
          </a:prstGeom>
          <a:noFill/>
        </p:spPr>
        <p:txBody>
          <a:bodyPr wrap="square">
            <a:spAutoFit/>
          </a:bodyPr>
          <a:lstStyle/>
          <a:p>
            <a:pPr algn="l">
              <a:spcAft>
                <a:spcPts val="800"/>
              </a:spcAft>
              <a:defRPr sz="1900" b="0">
                <a:solidFill>
                  <a:srgbClr val="424242"/>
                </a:solidFill>
                <a:latin typeface="Calibri"/>
              </a:defRPr>
            </a:pPr>
            <a:r>
              <a:t>The mortality effect was about 3× larger after the ACA</a:t>
            </a:r>
          </a:p>
          <a:p>
            <a:pPr algn="l">
              <a:spcAft>
                <a:spcPts val="800"/>
              </a:spcAft>
              <a:defRPr sz="1900" b="0">
                <a:solidFill>
                  <a:srgbClr val="424242"/>
                </a:solidFill>
                <a:latin typeface="Calibri"/>
              </a:defRPr>
            </a:pPr>
            <a:r>
              <a:t>(−3.07 pre-ACA  →  −8.93 post-ACA).</a:t>
            </a:r>
          </a:p>
          <a:p>
            <a:pPr algn="l">
              <a:spcAft>
                <a:spcPts val="800"/>
              </a:spcAft>
              <a:defRPr sz="1900" b="0">
                <a:solidFill>
                  <a:srgbClr val="424242"/>
                </a:solidFill>
                <a:latin typeface="Calibri"/>
              </a:defRPr>
            </a:pPr>
            <a:r>
              <a:t>Coverage and prevention look like complements.</a:t>
            </a:r>
          </a:p>
        </p:txBody>
      </p:sp>
      <p:pic>
        <p:nvPicPr>
          <p:cNvPr id="7" name="Picture 6" descr="slide-concept-epi-econ-complement.png"/>
          <p:cNvPicPr>
            <a:picLocks noChangeAspect="1"/>
          </p:cNvPicPr>
          <p:nvPr/>
        </p:nvPicPr>
        <p:blipFill>
          <a:blip r:embed="rId2"/>
          <a:stretch>
            <a:fillRect/>
          </a:stretch>
        </p:blipFill>
        <p:spPr>
          <a:xfrm>
            <a:off x="7360920" y="1737360"/>
            <a:ext cx="4206240" cy="420624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A77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881360" cy="960120"/>
          </a:xfrm>
          <a:prstGeom prst="rect">
            <a:avLst/>
          </a:prstGeom>
          <a:noFill/>
        </p:spPr>
        <p:txBody>
          <a:bodyPr wrap="square">
            <a:spAutoFit/>
          </a:bodyPr>
          <a:lstStyle/>
          <a:p>
            <a:pPr algn="l">
              <a:defRPr sz="2800" b="1">
                <a:solidFill>
                  <a:srgbClr val="003080"/>
                </a:solidFill>
                <a:latin typeface="Calibri"/>
              </a:defRPr>
            </a:pPr>
            <a:r>
              <a:t>Stronger After the ACA</a:t>
            </a:r>
          </a:p>
        </p:txBody>
      </p:sp>
      <p:pic>
        <p:nvPicPr>
          <p:cNvPr id="5" name="Picture 4" descr="figure_2_aca_complementarity.png"/>
          <p:cNvPicPr>
            <a:picLocks noChangeAspect="1"/>
          </p:cNvPicPr>
          <p:nvPr/>
        </p:nvPicPr>
        <p:blipFill>
          <a:blip r:embed="rId2"/>
          <a:stretch>
            <a:fillRect/>
          </a:stretch>
        </p:blipFill>
        <p:spPr>
          <a:xfrm>
            <a:off x="2438247" y="1417320"/>
            <a:ext cx="7315200" cy="4608576"/>
          </a:xfrm>
          <a:prstGeom prst="rect">
            <a:avLst/>
          </a:prstGeom>
        </p:spPr>
      </p:pic>
      <p:sp>
        <p:nvSpPr>
          <p:cNvPr id="6" name="TextBox 5"/>
          <p:cNvSpPr txBox="1"/>
          <p:nvPr/>
        </p:nvSpPr>
        <p:spPr>
          <a:xfrm>
            <a:off x="822960" y="6071616"/>
            <a:ext cx="10515600" cy="457200"/>
          </a:xfrm>
          <a:prstGeom prst="rect">
            <a:avLst/>
          </a:prstGeom>
          <a:noFill/>
        </p:spPr>
        <p:txBody>
          <a:bodyPr wrap="square">
            <a:spAutoFit/>
          </a:bodyPr>
          <a:lstStyle/>
          <a:p>
            <a:pPr algn="ctr">
              <a:defRPr sz="1500" b="0">
                <a:solidFill>
                  <a:srgbClr val="424242"/>
                </a:solidFill>
                <a:latin typeface="Calibri"/>
              </a:defRPr>
            </a:pPr>
            <a:r>
              <a:t>The effect is about 3× larger post-ACA, suggesting complementarity.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A77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881360" cy="960120"/>
          </a:xfrm>
          <a:prstGeom prst="rect">
            <a:avLst/>
          </a:prstGeom>
          <a:noFill/>
        </p:spPr>
        <p:txBody>
          <a:bodyPr wrap="square">
            <a:spAutoFit/>
          </a:bodyPr>
          <a:lstStyle/>
          <a:p>
            <a:pPr algn="l">
              <a:defRPr sz="2800" b="1">
                <a:solidFill>
                  <a:srgbClr val="003080"/>
                </a:solidFill>
                <a:latin typeface="Calibri"/>
              </a:defRPr>
            </a:pPr>
            <a:r>
              <a:t>The Bottom Line</a:t>
            </a:r>
          </a:p>
        </p:txBody>
      </p:sp>
      <p:sp>
        <p:nvSpPr>
          <p:cNvPr id="5" name="TextBox 4"/>
          <p:cNvSpPr txBox="1"/>
          <p:nvPr/>
        </p:nvSpPr>
        <p:spPr>
          <a:xfrm>
            <a:off x="822960" y="2011680"/>
            <a:ext cx="1859280" cy="1188720"/>
          </a:xfrm>
          <a:prstGeom prst="rect">
            <a:avLst/>
          </a:prstGeom>
          <a:noFill/>
        </p:spPr>
        <p:txBody>
          <a:bodyPr wrap="square" anchor="ctr">
            <a:spAutoFit/>
          </a:bodyPr>
          <a:lstStyle/>
          <a:p>
            <a:pPr algn="ctr">
              <a:defRPr sz="3800" b="1">
                <a:solidFill>
                  <a:srgbClr val="003080"/>
                </a:solidFill>
                <a:latin typeface="Calibri"/>
              </a:defRPr>
            </a:pPr>
            <a:r>
              <a:t>$109K</a:t>
            </a:r>
          </a:p>
        </p:txBody>
      </p:sp>
      <p:sp>
        <p:nvSpPr>
          <p:cNvPr id="6" name="TextBox 5"/>
          <p:cNvSpPr txBox="1"/>
          <p:nvPr/>
        </p:nvSpPr>
        <p:spPr>
          <a:xfrm>
            <a:off x="822960" y="3291840"/>
            <a:ext cx="1859280" cy="2468880"/>
          </a:xfrm>
          <a:prstGeom prst="rect">
            <a:avLst/>
          </a:prstGeom>
          <a:noFill/>
        </p:spPr>
        <p:txBody>
          <a:bodyPr wrap="square">
            <a:spAutoFit/>
          </a:bodyPr>
          <a:lstStyle/>
          <a:p>
            <a:pPr algn="ctr">
              <a:spcAft>
                <a:spcPts val="600"/>
              </a:spcAft>
              <a:defRPr sz="1800" b="0">
                <a:solidFill>
                  <a:srgbClr val="1C1C1C"/>
                </a:solidFill>
                <a:latin typeface="Calibri"/>
              </a:defRPr>
            </a:pPr>
            <a:r>
              <a:t>Public health spending</a:t>
            </a:r>
          </a:p>
          <a:p>
            <a:pPr algn="ctr">
              <a:spcAft>
                <a:spcPts val="600"/>
              </a:spcAft>
              <a:defRPr sz="1800" b="0">
                <a:solidFill>
                  <a:srgbClr val="1C1C1C"/>
                </a:solidFill>
                <a:latin typeface="Calibri"/>
              </a:defRPr>
            </a:pPr>
            <a:r>
              <a:t>per life saved</a:t>
            </a:r>
          </a:p>
        </p:txBody>
      </p:sp>
      <p:sp>
        <p:nvSpPr>
          <p:cNvPr id="7" name="TextBox 6"/>
          <p:cNvSpPr txBox="1"/>
          <p:nvPr/>
        </p:nvSpPr>
        <p:spPr>
          <a:xfrm>
            <a:off x="3048000" y="2011680"/>
            <a:ext cx="1859280" cy="1188720"/>
          </a:xfrm>
          <a:prstGeom prst="rect">
            <a:avLst/>
          </a:prstGeom>
          <a:noFill/>
        </p:spPr>
        <p:txBody>
          <a:bodyPr wrap="square" anchor="ctr">
            <a:spAutoFit/>
          </a:bodyPr>
          <a:lstStyle/>
          <a:p>
            <a:pPr algn="ctr">
              <a:defRPr sz="3800" b="1">
                <a:solidFill>
                  <a:srgbClr val="003080"/>
                </a:solidFill>
                <a:latin typeface="Calibri"/>
              </a:defRPr>
            </a:pPr>
            <a:r>
              <a:t>125 : 1</a:t>
            </a:r>
          </a:p>
        </p:txBody>
      </p:sp>
      <p:sp>
        <p:nvSpPr>
          <p:cNvPr id="8" name="TextBox 7"/>
          <p:cNvSpPr txBox="1"/>
          <p:nvPr/>
        </p:nvSpPr>
        <p:spPr>
          <a:xfrm>
            <a:off x="3048000" y="3291840"/>
            <a:ext cx="1859280" cy="2468880"/>
          </a:xfrm>
          <a:prstGeom prst="rect">
            <a:avLst/>
          </a:prstGeom>
          <a:noFill/>
        </p:spPr>
        <p:txBody>
          <a:bodyPr wrap="square">
            <a:spAutoFit/>
          </a:bodyPr>
          <a:lstStyle/>
          <a:p>
            <a:pPr algn="ctr">
              <a:spcAft>
                <a:spcPts val="600"/>
              </a:spcAft>
              <a:defRPr sz="1800" b="0">
                <a:solidFill>
                  <a:srgbClr val="1C1C1C"/>
                </a:solidFill>
                <a:latin typeface="Calibri"/>
              </a:defRPr>
            </a:pPr>
            <a:r>
              <a:t>Benefit-cost ratio</a:t>
            </a:r>
          </a:p>
          <a:p>
            <a:pPr algn="ctr">
              <a:spcAft>
                <a:spcPts val="600"/>
              </a:spcAft>
              <a:defRPr sz="1800" b="0">
                <a:solidFill>
                  <a:srgbClr val="1C1C1C"/>
                </a:solidFill>
                <a:latin typeface="Calibri"/>
              </a:defRPr>
            </a:pPr>
            <a:r>
              <a:t>at a $13.6M</a:t>
            </a:r>
          </a:p>
          <a:p>
            <a:pPr algn="ctr">
              <a:spcAft>
                <a:spcPts val="600"/>
              </a:spcAft>
              <a:defRPr sz="1800" b="0">
                <a:solidFill>
                  <a:srgbClr val="1C1C1C"/>
                </a:solidFill>
                <a:latin typeface="Calibri"/>
              </a:defRPr>
            </a:pPr>
            <a:r>
              <a:t>value of a life</a:t>
            </a:r>
          </a:p>
        </p:txBody>
      </p:sp>
      <p:sp>
        <p:nvSpPr>
          <p:cNvPr id="9" name="TextBox 8"/>
          <p:cNvSpPr txBox="1"/>
          <p:nvPr/>
        </p:nvSpPr>
        <p:spPr>
          <a:xfrm>
            <a:off x="5273040" y="2011680"/>
            <a:ext cx="1859280" cy="1188720"/>
          </a:xfrm>
          <a:prstGeom prst="rect">
            <a:avLst/>
          </a:prstGeom>
          <a:noFill/>
        </p:spPr>
        <p:txBody>
          <a:bodyPr wrap="square" anchor="ctr">
            <a:spAutoFit/>
          </a:bodyPr>
          <a:lstStyle/>
          <a:p>
            <a:pPr algn="ctr">
              <a:defRPr sz="3800" b="1">
                <a:solidFill>
                  <a:srgbClr val="003080"/>
                </a:solidFill>
                <a:latin typeface="Calibri"/>
              </a:defRPr>
            </a:pPr>
            <a:r>
              <a:t>50–100%</a:t>
            </a:r>
          </a:p>
        </p:txBody>
      </p:sp>
      <p:sp>
        <p:nvSpPr>
          <p:cNvPr id="10" name="TextBox 9"/>
          <p:cNvSpPr txBox="1"/>
          <p:nvPr/>
        </p:nvSpPr>
        <p:spPr>
          <a:xfrm>
            <a:off x="5273040" y="3291840"/>
            <a:ext cx="1859280" cy="2468880"/>
          </a:xfrm>
          <a:prstGeom prst="rect">
            <a:avLst/>
          </a:prstGeom>
          <a:noFill/>
        </p:spPr>
        <p:txBody>
          <a:bodyPr wrap="square">
            <a:spAutoFit/>
          </a:bodyPr>
          <a:lstStyle/>
          <a:p>
            <a:pPr algn="ctr">
              <a:spcAft>
                <a:spcPts val="600"/>
              </a:spcAft>
              <a:defRPr sz="1800" b="0">
                <a:solidFill>
                  <a:srgbClr val="1C1C1C"/>
                </a:solidFill>
                <a:latin typeface="Calibri"/>
              </a:defRPr>
            </a:pPr>
            <a:r>
              <a:t>How much standard</a:t>
            </a:r>
          </a:p>
          <a:p>
            <a:pPr algn="ctr">
              <a:spcAft>
                <a:spcPts val="600"/>
              </a:spcAft>
              <a:defRPr sz="1800" b="0">
                <a:solidFill>
                  <a:srgbClr val="1C1C1C"/>
                </a:solidFill>
                <a:latin typeface="Calibri"/>
              </a:defRPr>
            </a:pPr>
            <a:r>
              <a:t>analyses may</a:t>
            </a:r>
          </a:p>
          <a:p>
            <a:pPr algn="ctr">
              <a:spcAft>
                <a:spcPts val="600"/>
              </a:spcAft>
              <a:defRPr sz="1800" b="0">
                <a:solidFill>
                  <a:srgbClr val="1C1C1C"/>
                </a:solidFill>
                <a:latin typeface="Calibri"/>
              </a:defRPr>
            </a:pPr>
            <a:r>
              <a:t>understate the value</a:t>
            </a:r>
          </a:p>
        </p:txBody>
      </p:sp>
      <p:pic>
        <p:nvPicPr>
          <p:cNvPr id="11" name="Picture 10" descr="roi-concept-returns.png"/>
          <p:cNvPicPr>
            <a:picLocks noChangeAspect="1"/>
          </p:cNvPicPr>
          <p:nvPr/>
        </p:nvPicPr>
        <p:blipFill>
          <a:blip r:embed="rId2"/>
          <a:stretch>
            <a:fillRect/>
          </a:stretch>
        </p:blipFill>
        <p:spPr>
          <a:xfrm>
            <a:off x="7360920" y="1783080"/>
            <a:ext cx="4206240" cy="4206240"/>
          </a:xfrm>
          <a:prstGeom prst="rect">
            <a:avLst/>
          </a:prstGeom>
        </p:spPr>
      </p:pic>
      <p:sp>
        <p:nvSpPr>
          <p:cNvPr id="12" name="TextBox 11"/>
          <p:cNvSpPr txBox="1"/>
          <p:nvPr/>
        </p:nvSpPr>
        <p:spPr>
          <a:xfrm>
            <a:off x="640080" y="6355080"/>
            <a:ext cx="10881360" cy="411480"/>
          </a:xfrm>
          <a:prstGeom prst="rect">
            <a:avLst/>
          </a:prstGeom>
          <a:noFill/>
        </p:spPr>
        <p:txBody>
          <a:bodyPr wrap="square">
            <a:spAutoFit/>
          </a:bodyPr>
          <a:lstStyle/>
          <a:p>
            <a:pPr algn="l">
              <a:defRPr sz="1300" b="0">
                <a:solidFill>
                  <a:srgbClr val="424242"/>
                </a:solidFill>
                <a:latin typeface="Calibri"/>
              </a:defRPr>
            </a:pPr>
            <a:r>
              <a:t>Value-of-statistical-life standard, HHS 2025. Crisis value raises returns further.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A77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377440"/>
            <a:ext cx="10360152" cy="731520"/>
          </a:xfrm>
          <a:prstGeom prst="rect">
            <a:avLst/>
          </a:prstGeom>
          <a:noFill/>
        </p:spPr>
        <p:txBody>
          <a:bodyPr wrap="square">
            <a:spAutoFit/>
          </a:bodyPr>
          <a:lstStyle/>
          <a:p>
            <a:pPr algn="ctr">
              <a:defRPr sz="2200" b="1">
                <a:solidFill>
                  <a:srgbClr val="003080"/>
                </a:solidFill>
                <a:latin typeface="Calibri"/>
              </a:defRPr>
            </a:pPr>
            <a:r>
              <a:t>The Toolkit</a:t>
            </a:r>
          </a:p>
        </p:txBody>
      </p:sp>
      <p:sp>
        <p:nvSpPr>
          <p:cNvPr id="5" name="TextBox 4"/>
          <p:cNvSpPr txBox="1"/>
          <p:nvPr/>
        </p:nvSpPr>
        <p:spPr>
          <a:xfrm>
            <a:off x="914400" y="3200400"/>
            <a:ext cx="10360152" cy="1280160"/>
          </a:xfrm>
          <a:prstGeom prst="rect">
            <a:avLst/>
          </a:prstGeom>
          <a:noFill/>
        </p:spPr>
        <p:txBody>
          <a:bodyPr wrap="square">
            <a:spAutoFit/>
          </a:bodyPr>
          <a:lstStyle/>
          <a:p>
            <a:pPr algn="ctr">
              <a:defRPr sz="4000" b="1">
                <a:solidFill>
                  <a:srgbClr val="1C1C1C"/>
                </a:solidFill>
                <a:latin typeface="Calibri"/>
              </a:defRPr>
            </a:pPr>
            <a:r>
              <a:t>Measuring Prevention's Value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A77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881360" cy="960120"/>
          </a:xfrm>
          <a:prstGeom prst="rect">
            <a:avLst/>
          </a:prstGeom>
          <a:noFill/>
        </p:spPr>
        <p:txBody>
          <a:bodyPr wrap="square">
            <a:spAutoFit/>
          </a:bodyPr>
          <a:lstStyle/>
          <a:p>
            <a:pPr algn="l">
              <a:defRPr sz="2800" b="1">
                <a:solidFill>
                  <a:srgbClr val="003080"/>
                </a:solidFill>
                <a:latin typeface="Calibri"/>
              </a:defRPr>
            </a:pPr>
            <a:r>
              <a:t>"It Works" Isn't Enough</a:t>
            </a:r>
          </a:p>
        </p:txBody>
      </p:sp>
      <p:sp>
        <p:nvSpPr>
          <p:cNvPr id="5" name="TextBox 4"/>
          <p:cNvSpPr txBox="1"/>
          <p:nvPr/>
        </p:nvSpPr>
        <p:spPr>
          <a:xfrm>
            <a:off x="822960" y="1508760"/>
            <a:ext cx="6309360" cy="4663440"/>
          </a:xfrm>
          <a:prstGeom prst="rect">
            <a:avLst/>
          </a:prstGeom>
          <a:noFill/>
        </p:spPr>
        <p:txBody>
          <a:bodyPr wrap="square">
            <a:spAutoFit/>
          </a:bodyPr>
          <a:lstStyle/>
          <a:p>
            <a:pPr algn="l">
              <a:spcAft>
                <a:spcPts val="1000"/>
              </a:spcAft>
              <a:defRPr sz="2000" b="0">
                <a:solidFill>
                  <a:srgbClr val="1C1C1C"/>
                </a:solidFill>
                <a:latin typeface="Calibri"/>
              </a:defRPr>
            </a:pPr>
            <a:r>
              <a:t>•  Showing a program improves outcomes is step one</a:t>
            </a:r>
          </a:p>
          <a:p>
            <a:pPr algn="l">
              <a:spcAft>
                <a:spcPts val="1000"/>
              </a:spcAft>
              <a:defRPr sz="2000" b="0">
                <a:solidFill>
                  <a:srgbClr val="1C1C1C"/>
                </a:solidFill>
                <a:latin typeface="Calibri"/>
              </a:defRPr>
            </a:pPr>
            <a:r>
              <a:t>•  The real question is what we give up to fund it</a:t>
            </a:r>
          </a:p>
          <a:p>
            <a:pPr algn="l">
              <a:spcAft>
                <a:spcPts val="600"/>
              </a:spcAft>
              <a:defRPr sz="1900" b="0">
                <a:solidFill>
                  <a:srgbClr val="424242"/>
                </a:solidFill>
                <a:latin typeface="Calibri"/>
              </a:defRPr>
            </a:pPr>
            <a:r>
              <a:t>       –  opportunity cost: the next best use of the dollar</a:t>
            </a:r>
          </a:p>
          <a:p>
            <a:pPr algn="l">
              <a:spcAft>
                <a:spcPts val="1000"/>
              </a:spcAft>
              <a:defRPr sz="2000" b="0">
                <a:solidFill>
                  <a:srgbClr val="1C1C1C"/>
                </a:solidFill>
                <a:latin typeface="Calibri"/>
              </a:defRPr>
            </a:pPr>
            <a:r>
              <a:t>•  Every yes is a no to something else</a:t>
            </a:r>
          </a:p>
          <a:p>
            <a:pPr algn="l">
              <a:spcAft>
                <a:spcPts val="1000"/>
              </a:spcAft>
              <a:defRPr sz="2000" b="0">
                <a:solidFill>
                  <a:srgbClr val="1C1C1C"/>
                </a:solidFill>
                <a:latin typeface="Calibri"/>
              </a:defRPr>
            </a:pPr>
            <a:r>
              <a:t>•  A program can work and still be the wrong choice</a:t>
            </a:r>
          </a:p>
          <a:p>
            <a:pPr algn="l">
              <a:spcAft>
                <a:spcPts val="600"/>
              </a:spcAft>
              <a:defRPr sz="1900" b="0">
                <a:solidFill>
                  <a:srgbClr val="424242"/>
                </a:solidFill>
                <a:latin typeface="Calibri"/>
              </a:defRPr>
            </a:pPr>
            <a:r>
              <a:t>       –  if another option buys more health per dollar</a:t>
            </a:r>
          </a:p>
        </p:txBody>
      </p:sp>
      <p:pic>
        <p:nvPicPr>
          <p:cNvPr id="6" name="Picture 5" descr="slide-concept-opportunity-cost.png"/>
          <p:cNvPicPr>
            <a:picLocks noChangeAspect="1"/>
          </p:cNvPicPr>
          <p:nvPr/>
        </p:nvPicPr>
        <p:blipFill>
          <a:blip r:embed="rId2"/>
          <a:stretch>
            <a:fillRect/>
          </a:stretch>
        </p:blipFill>
        <p:spPr>
          <a:xfrm>
            <a:off x="7360920" y="1600200"/>
            <a:ext cx="4206240" cy="4206240"/>
          </a:xfrm>
          <a:prstGeom prst="rect">
            <a:avLst/>
          </a:prstGeom>
        </p:spPr>
      </p:pic>
      <p:sp>
        <p:nvSpPr>
          <p:cNvPr id="7" name="TextBox 6"/>
          <p:cNvSpPr txBox="1"/>
          <p:nvPr/>
        </p:nvSpPr>
        <p:spPr>
          <a:xfrm>
            <a:off x="640080" y="6355080"/>
            <a:ext cx="10881360" cy="411480"/>
          </a:xfrm>
          <a:prstGeom prst="rect">
            <a:avLst/>
          </a:prstGeom>
          <a:noFill/>
        </p:spPr>
        <p:txBody>
          <a:bodyPr wrap="square">
            <a:spAutoFit/>
          </a:bodyPr>
          <a:lstStyle/>
          <a:p>
            <a:pPr algn="l">
              <a:defRPr sz="1300" b="0">
                <a:solidFill>
                  <a:srgbClr val="424242"/>
                </a:solidFill>
                <a:latin typeface="Calibri"/>
              </a:defRPr>
            </a:pPr>
            <a:r>
              <a:t>Methods Lab: Why "It Works" Isn't Enough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A77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881360" cy="960120"/>
          </a:xfrm>
          <a:prstGeom prst="rect">
            <a:avLst/>
          </a:prstGeom>
          <a:noFill/>
        </p:spPr>
        <p:txBody>
          <a:bodyPr wrap="square">
            <a:spAutoFit/>
          </a:bodyPr>
          <a:lstStyle/>
          <a:p>
            <a:pPr algn="l">
              <a:defRPr sz="2800" b="1">
                <a:solidFill>
                  <a:srgbClr val="003080"/>
                </a:solidFill>
                <a:latin typeface="Calibri"/>
              </a:defRPr>
            </a:pPr>
            <a:r>
              <a:t>The Comparison Problem</a:t>
            </a:r>
          </a:p>
        </p:txBody>
      </p:sp>
      <p:sp>
        <p:nvSpPr>
          <p:cNvPr id="5" name="TextBox 4"/>
          <p:cNvSpPr txBox="1"/>
          <p:nvPr/>
        </p:nvSpPr>
        <p:spPr>
          <a:xfrm>
            <a:off x="822960" y="1508760"/>
            <a:ext cx="6309360" cy="4663440"/>
          </a:xfrm>
          <a:prstGeom prst="rect">
            <a:avLst/>
          </a:prstGeom>
          <a:noFill/>
        </p:spPr>
        <p:txBody>
          <a:bodyPr wrap="square">
            <a:spAutoFit/>
          </a:bodyPr>
          <a:lstStyle/>
          <a:p>
            <a:pPr algn="l">
              <a:spcAft>
                <a:spcPts val="1000"/>
              </a:spcAft>
              <a:defRPr sz="2000" b="0">
                <a:solidFill>
                  <a:srgbClr val="1C1C1C"/>
                </a:solidFill>
                <a:latin typeface="Calibri"/>
              </a:defRPr>
            </a:pPr>
            <a:r>
              <a:t>•  Program A prevents 100 deaths</a:t>
            </a:r>
          </a:p>
          <a:p>
            <a:pPr algn="l">
              <a:spcAft>
                <a:spcPts val="1000"/>
              </a:spcAft>
              <a:defRPr sz="2000" b="0">
                <a:solidFill>
                  <a:srgbClr val="1C1C1C"/>
                </a:solidFill>
                <a:latin typeface="Calibri"/>
              </a:defRPr>
            </a:pPr>
            <a:r>
              <a:t>•  Program B prevents 500 hospitalizations</a:t>
            </a:r>
          </a:p>
          <a:p>
            <a:pPr algn="l">
              <a:spcAft>
                <a:spcPts val="1000"/>
              </a:spcAft>
              <a:defRPr sz="2000" b="0">
                <a:solidFill>
                  <a:srgbClr val="1C1C1C"/>
                </a:solidFill>
                <a:latin typeface="Calibri"/>
              </a:defRPr>
            </a:pPr>
            <a:r>
              <a:t>•  Program C improves quality of life for 1,000</a:t>
            </a:r>
          </a:p>
          <a:p>
            <a:pPr algn="l">
              <a:spcAft>
                <a:spcPts val="1000"/>
              </a:spcAft>
              <a:defRPr sz="2000" b="0">
                <a:solidFill>
                  <a:srgbClr val="1C1C1C"/>
                </a:solidFill>
                <a:latin typeface="Calibri"/>
              </a:defRPr>
            </a:pPr>
            <a:r>
              <a:t>•  Which delivers the most health?</a:t>
            </a:r>
          </a:p>
          <a:p>
            <a:pPr algn="l">
              <a:spcAft>
                <a:spcPts val="1000"/>
              </a:spcAft>
              <a:defRPr sz="2000" b="0">
                <a:solidFill>
                  <a:srgbClr val="1C1C1C"/>
                </a:solidFill>
                <a:latin typeface="Calibri"/>
              </a:defRPr>
            </a:pPr>
            <a:r>
              <a:t>•  We need a common unit capturing both</a:t>
            </a:r>
          </a:p>
          <a:p>
            <a:pPr algn="l">
              <a:spcAft>
                <a:spcPts val="600"/>
              </a:spcAft>
              <a:defRPr sz="1900" b="0">
                <a:solidFill>
                  <a:srgbClr val="424242"/>
                </a:solidFill>
                <a:latin typeface="Calibri"/>
              </a:defRPr>
            </a:pPr>
            <a:r>
              <a:t>       –  mortality (length of life) and morbidity (quality)</a:t>
            </a:r>
          </a:p>
        </p:txBody>
      </p:sp>
      <p:pic>
        <p:nvPicPr>
          <p:cNvPr id="6" name="Picture 5" descr="cea-concept-measures.png"/>
          <p:cNvPicPr>
            <a:picLocks noChangeAspect="1"/>
          </p:cNvPicPr>
          <p:nvPr/>
        </p:nvPicPr>
        <p:blipFill>
          <a:blip r:embed="rId2"/>
          <a:stretch>
            <a:fillRect/>
          </a:stretch>
        </p:blipFill>
        <p:spPr>
          <a:xfrm>
            <a:off x="7360920" y="1600200"/>
            <a:ext cx="4206240" cy="420624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A77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14400"/>
            <a:ext cx="10360152" cy="548640"/>
          </a:xfrm>
          <a:prstGeom prst="rect">
            <a:avLst/>
          </a:prstGeom>
          <a:noFill/>
        </p:spPr>
        <p:txBody>
          <a:bodyPr wrap="square">
            <a:spAutoFit/>
          </a:bodyPr>
          <a:lstStyle/>
          <a:p>
            <a:pPr algn="ctr">
              <a:defRPr sz="2000" b="1">
                <a:solidFill>
                  <a:srgbClr val="003080"/>
                </a:solidFill>
                <a:latin typeface="Calibri"/>
              </a:defRPr>
            </a:pPr>
            <a:r>
              <a:t>KEY CONCEPT</a:t>
            </a:r>
          </a:p>
        </p:txBody>
      </p:sp>
      <p:sp>
        <p:nvSpPr>
          <p:cNvPr id="5" name="TextBox 4"/>
          <p:cNvSpPr txBox="1"/>
          <p:nvPr/>
        </p:nvSpPr>
        <p:spPr>
          <a:xfrm>
            <a:off x="1097280" y="1737360"/>
            <a:ext cx="9994392" cy="2194560"/>
          </a:xfrm>
          <a:prstGeom prst="rect">
            <a:avLst/>
          </a:prstGeom>
          <a:noFill/>
        </p:spPr>
        <p:txBody>
          <a:bodyPr wrap="square" anchor="ctr">
            <a:spAutoFit/>
          </a:bodyPr>
          <a:lstStyle/>
          <a:p>
            <a:pPr algn="ctr">
              <a:defRPr sz="3000" b="1">
                <a:solidFill>
                  <a:srgbClr val="1C1C1C"/>
                </a:solidFill>
                <a:latin typeface="Calibri"/>
              </a:defRPr>
            </a:pPr>
            <a:r>
              <a:t>One QALY = one year of life in perfect health.</a:t>
            </a:r>
          </a:p>
        </p:txBody>
      </p:sp>
      <p:sp>
        <p:nvSpPr>
          <p:cNvPr id="6" name="TextBox 5"/>
          <p:cNvSpPr txBox="1"/>
          <p:nvPr/>
        </p:nvSpPr>
        <p:spPr>
          <a:xfrm>
            <a:off x="1371600" y="4114800"/>
            <a:ext cx="9445752" cy="1920240"/>
          </a:xfrm>
          <a:prstGeom prst="rect">
            <a:avLst/>
          </a:prstGeom>
          <a:noFill/>
        </p:spPr>
        <p:txBody>
          <a:bodyPr wrap="square">
            <a:spAutoFit/>
          </a:bodyPr>
          <a:lstStyle/>
          <a:p>
            <a:pPr algn="ctr">
              <a:spcAft>
                <a:spcPts val="800"/>
              </a:spcAft>
              <a:defRPr sz="2000" b="0">
                <a:solidFill>
                  <a:srgbClr val="424242"/>
                </a:solidFill>
                <a:latin typeface="Calibri"/>
              </a:defRPr>
            </a:pPr>
            <a:r>
              <a:t>A year at reduced quality counts as less than 1 QALY.</a:t>
            </a:r>
          </a:p>
          <a:p>
            <a:pPr algn="ctr">
              <a:spcAft>
                <a:spcPts val="800"/>
              </a:spcAft>
              <a:defRPr sz="2000" b="0">
                <a:solidFill>
                  <a:srgbClr val="424242"/>
                </a:solidFill>
                <a:latin typeface="Calibri"/>
              </a:defRPr>
            </a:pPr>
            <a:r>
              <a:t>Extend life 5 years at 0.6 quality  →  5 × 0.6 = 3 QALYs.</a:t>
            </a:r>
          </a:p>
          <a:p>
            <a:pPr algn="ctr">
              <a:spcAft>
                <a:spcPts val="800"/>
              </a:spcAft>
              <a:defRPr sz="2000" b="0">
                <a:solidFill>
                  <a:srgbClr val="424242"/>
                </a:solidFill>
                <a:latin typeface="Calibri"/>
              </a:defRPr>
            </a:pPr>
            <a:r>
              <a:t>QALYs capture quantity and quality of life together.</a:t>
            </a:r>
          </a:p>
        </p:txBody>
      </p:sp>
      <p:sp>
        <p:nvSpPr>
          <p:cNvPr id="7" name="TextBox 6"/>
          <p:cNvSpPr txBox="1"/>
          <p:nvPr/>
        </p:nvSpPr>
        <p:spPr>
          <a:xfrm>
            <a:off x="640080" y="6355080"/>
            <a:ext cx="10881360" cy="411480"/>
          </a:xfrm>
          <a:prstGeom prst="rect">
            <a:avLst/>
          </a:prstGeom>
          <a:noFill/>
        </p:spPr>
        <p:txBody>
          <a:bodyPr wrap="square">
            <a:spAutoFit/>
          </a:bodyPr>
          <a:lstStyle/>
          <a:p>
            <a:pPr algn="l">
              <a:defRPr sz="1300" b="0">
                <a:solidFill>
                  <a:srgbClr val="424242"/>
                </a:solidFill>
                <a:latin typeface="Calibri"/>
              </a:defRPr>
            </a:pPr>
            <a:r>
              <a:t>DALYs are a related measure: years of healthy life lost.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A77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881360" cy="960120"/>
          </a:xfrm>
          <a:prstGeom prst="rect">
            <a:avLst/>
          </a:prstGeom>
          <a:noFill/>
        </p:spPr>
        <p:txBody>
          <a:bodyPr wrap="square">
            <a:spAutoFit/>
          </a:bodyPr>
          <a:lstStyle/>
          <a:p>
            <a:pPr algn="l">
              <a:defRPr sz="2800" b="1">
                <a:solidFill>
                  <a:srgbClr val="003080"/>
                </a:solidFill>
                <a:latin typeface="Calibri"/>
              </a:defRPr>
            </a:pPr>
            <a:r>
              <a:t>QALYs: Useful, and Contested</a:t>
            </a:r>
          </a:p>
        </p:txBody>
      </p:sp>
      <p:sp>
        <p:nvSpPr>
          <p:cNvPr id="5" name="TextBox 4"/>
          <p:cNvSpPr txBox="1"/>
          <p:nvPr/>
        </p:nvSpPr>
        <p:spPr>
          <a:xfrm>
            <a:off x="822960" y="1508760"/>
            <a:ext cx="10607040" cy="4663440"/>
          </a:xfrm>
          <a:prstGeom prst="rect">
            <a:avLst/>
          </a:prstGeom>
          <a:noFill/>
        </p:spPr>
        <p:txBody>
          <a:bodyPr wrap="square">
            <a:spAutoFit/>
          </a:bodyPr>
          <a:lstStyle/>
          <a:p>
            <a:pPr algn="l">
              <a:spcAft>
                <a:spcPts val="1000"/>
              </a:spcAft>
              <a:defRPr sz="2000" b="0">
                <a:solidFill>
                  <a:srgbClr val="1C1C1C"/>
                </a:solidFill>
                <a:latin typeface="Calibri"/>
              </a:defRPr>
            </a:pPr>
            <a:r>
              <a:t>•  Standard in research; we will see them cited</a:t>
            </a:r>
          </a:p>
          <a:p>
            <a:pPr algn="l">
              <a:spcAft>
                <a:spcPts val="1000"/>
              </a:spcAft>
              <a:defRPr sz="2000" b="0">
                <a:solidFill>
                  <a:srgbClr val="1C1C1C"/>
                </a:solidFill>
                <a:latin typeface="Calibri"/>
              </a:defRPr>
            </a:pPr>
            <a:r>
              <a:t>•  Criticism: may undervalue care for the disabled</a:t>
            </a:r>
          </a:p>
          <a:p>
            <a:pPr algn="l">
              <a:spcAft>
                <a:spcPts val="600"/>
              </a:spcAft>
              <a:defRPr sz="1900" b="0">
                <a:solidFill>
                  <a:srgbClr val="424242"/>
                </a:solidFill>
                <a:latin typeface="Calibri"/>
              </a:defRPr>
            </a:pPr>
            <a:r>
              <a:t>       –  or for elderly populations</a:t>
            </a:r>
          </a:p>
          <a:p>
            <a:pPr algn="l">
              <a:spcAft>
                <a:spcPts val="600"/>
              </a:spcAft>
              <a:defRPr sz="1900" b="0">
                <a:solidFill>
                  <a:srgbClr val="424242"/>
                </a:solidFill>
                <a:latin typeface="Calibri"/>
              </a:defRPr>
            </a:pPr>
            <a:r>
              <a:t>       –  a life-year with disability counted as less</a:t>
            </a:r>
          </a:p>
          <a:p>
            <a:pPr algn="l">
              <a:spcAft>
                <a:spcPts val="1000"/>
              </a:spcAft>
              <a:defRPr sz="2000" b="0">
                <a:solidFill>
                  <a:srgbClr val="1C1C1C"/>
                </a:solidFill>
                <a:latin typeface="Calibri"/>
              </a:defRPr>
            </a:pPr>
            <a:r>
              <a:t>•  Some read this as bias against disability</a:t>
            </a:r>
          </a:p>
          <a:p>
            <a:pPr algn="l">
              <a:spcAft>
                <a:spcPts val="1000"/>
              </a:spcAft>
              <a:defRPr sz="2000" b="0">
                <a:solidFill>
                  <a:srgbClr val="1C1C1C"/>
                </a:solidFill>
                <a:latin typeface="Calibri"/>
              </a:defRPr>
            </a:pPr>
            <a:r>
              <a:t>•  Alternatives weight all life-years equally</a:t>
            </a:r>
          </a:p>
          <a:p>
            <a:pPr algn="l">
              <a:spcAft>
                <a:spcPts val="1000"/>
              </a:spcAft>
              <a:defRPr sz="2000" b="0">
                <a:solidFill>
                  <a:srgbClr val="1C1C1C"/>
                </a:solidFill>
                <a:latin typeface="Calibri"/>
              </a:defRPr>
            </a:pPr>
            <a:r>
              <a:t>•  Use thoughtfully; know the debate</a:t>
            </a:r>
          </a:p>
        </p:txBody>
      </p:sp>
      <p:sp>
        <p:nvSpPr>
          <p:cNvPr id="6" name="TextBox 5"/>
          <p:cNvSpPr txBox="1"/>
          <p:nvPr/>
        </p:nvSpPr>
        <p:spPr>
          <a:xfrm>
            <a:off x="640080" y="6355080"/>
            <a:ext cx="10881360" cy="411480"/>
          </a:xfrm>
          <a:prstGeom prst="rect">
            <a:avLst/>
          </a:prstGeom>
          <a:noFill/>
        </p:spPr>
        <p:txBody>
          <a:bodyPr wrap="square">
            <a:spAutoFit/>
          </a:bodyPr>
          <a:lstStyle/>
          <a:p>
            <a:pPr algn="l">
              <a:defRPr sz="1300" b="0">
                <a:solidFill>
                  <a:srgbClr val="424242"/>
                </a:solidFill>
                <a:latin typeface="Calibri"/>
              </a:defRPr>
            </a:pPr>
            <a:r>
              <a:t>An active area of ethical and methodological discussion.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A77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881360" cy="960120"/>
          </a:xfrm>
          <a:prstGeom prst="rect">
            <a:avLst/>
          </a:prstGeom>
          <a:noFill/>
        </p:spPr>
        <p:txBody>
          <a:bodyPr wrap="square">
            <a:spAutoFit/>
          </a:bodyPr>
          <a:lstStyle/>
          <a:p>
            <a:pPr algn="l">
              <a:defRPr sz="2800" b="1">
                <a:solidFill>
                  <a:srgbClr val="003080"/>
                </a:solidFill>
                <a:latin typeface="Calibri"/>
              </a:defRPr>
            </a:pPr>
            <a:r>
              <a:t>What CEA Is (and Isn't)</a:t>
            </a:r>
          </a:p>
        </p:txBody>
      </p:sp>
      <p:sp>
        <p:nvSpPr>
          <p:cNvPr id="5" name="TextBox 4"/>
          <p:cNvSpPr txBox="1"/>
          <p:nvPr/>
        </p:nvSpPr>
        <p:spPr>
          <a:xfrm>
            <a:off x="822960" y="1508760"/>
            <a:ext cx="6309360" cy="4663440"/>
          </a:xfrm>
          <a:prstGeom prst="rect">
            <a:avLst/>
          </a:prstGeom>
          <a:noFill/>
        </p:spPr>
        <p:txBody>
          <a:bodyPr wrap="square">
            <a:spAutoFit/>
          </a:bodyPr>
          <a:lstStyle/>
          <a:p>
            <a:pPr algn="l">
              <a:spcAft>
                <a:spcPts val="1000"/>
              </a:spcAft>
              <a:defRPr sz="2000" b="0">
                <a:solidFill>
                  <a:srgbClr val="1C1C1C"/>
                </a:solidFill>
                <a:latin typeface="Calibri"/>
              </a:defRPr>
            </a:pPr>
            <a:r>
              <a:t>•  IS a tool to compare value across programs</a:t>
            </a:r>
          </a:p>
          <a:p>
            <a:pPr algn="l">
              <a:spcAft>
                <a:spcPts val="1000"/>
              </a:spcAft>
              <a:defRPr sz="2000" b="0">
                <a:solidFill>
                  <a:srgbClr val="1C1C1C"/>
                </a:solidFill>
                <a:latin typeface="Calibri"/>
              </a:defRPr>
            </a:pPr>
            <a:r>
              <a:t>•  IS a way to summarize cost and outcome in one ratio</a:t>
            </a:r>
          </a:p>
          <a:p>
            <a:pPr algn="l">
              <a:spcAft>
                <a:spcPts val="1000"/>
              </a:spcAft>
              <a:defRPr sz="2000" b="0">
                <a:solidFill>
                  <a:srgbClr val="1C1C1C"/>
                </a:solidFill>
                <a:latin typeface="Calibri"/>
              </a:defRPr>
            </a:pPr>
            <a:r>
              <a:t>•  IS NOT a decision-maker; it informs, doesn't decide</a:t>
            </a:r>
          </a:p>
          <a:p>
            <a:pPr algn="l">
              <a:spcAft>
                <a:spcPts val="1000"/>
              </a:spcAft>
              <a:defRPr sz="2000" b="0">
                <a:solidFill>
                  <a:srgbClr val="1C1C1C"/>
                </a:solidFill>
                <a:latin typeface="Calibri"/>
              </a:defRPr>
            </a:pPr>
            <a:r>
              <a:t>•  IS NOT a judgment of worth; it measures efficiency</a:t>
            </a:r>
          </a:p>
          <a:p>
            <a:pPr algn="l">
              <a:spcAft>
                <a:spcPts val="1000"/>
              </a:spcAft>
              <a:defRPr sz="2000" b="0">
                <a:solidFill>
                  <a:srgbClr val="1C1C1C"/>
                </a:solidFill>
                <a:latin typeface="Calibri"/>
              </a:defRPr>
            </a:pPr>
            <a:r>
              <a:t>•  IS NOT the only input (equity, feasibility, politics)</a:t>
            </a:r>
          </a:p>
        </p:txBody>
      </p:sp>
      <p:pic>
        <p:nvPicPr>
          <p:cNvPr id="6" name="Picture 5" descr="slide-concept-cost-effectiveness.png"/>
          <p:cNvPicPr>
            <a:picLocks noChangeAspect="1"/>
          </p:cNvPicPr>
          <p:nvPr/>
        </p:nvPicPr>
        <p:blipFill>
          <a:blip r:embed="rId2"/>
          <a:stretch>
            <a:fillRect/>
          </a:stretch>
        </p:blipFill>
        <p:spPr>
          <a:xfrm>
            <a:off x="7360920" y="1600200"/>
            <a:ext cx="4206240" cy="420624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A77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6309360" cy="548640"/>
          </a:xfrm>
          <a:prstGeom prst="rect">
            <a:avLst/>
          </a:prstGeom>
          <a:noFill/>
        </p:spPr>
        <p:txBody>
          <a:bodyPr wrap="square">
            <a:spAutoFit/>
          </a:bodyPr>
          <a:lstStyle/>
          <a:p>
            <a:pPr algn="l">
              <a:defRPr sz="2000" b="1">
                <a:solidFill>
                  <a:srgbClr val="003080"/>
                </a:solidFill>
                <a:latin typeface="Calibri"/>
              </a:defRPr>
            </a:pPr>
            <a:r>
              <a:t>THE CORE METRIC</a:t>
            </a:r>
          </a:p>
        </p:txBody>
      </p:sp>
      <p:sp>
        <p:nvSpPr>
          <p:cNvPr id="5" name="TextBox 4"/>
          <p:cNvSpPr txBox="1"/>
          <p:nvPr/>
        </p:nvSpPr>
        <p:spPr>
          <a:xfrm>
            <a:off x="731520" y="1737360"/>
            <a:ext cx="6309360" cy="2194560"/>
          </a:xfrm>
          <a:prstGeom prst="rect">
            <a:avLst/>
          </a:prstGeom>
          <a:noFill/>
        </p:spPr>
        <p:txBody>
          <a:bodyPr wrap="square" anchor="ctr">
            <a:spAutoFit/>
          </a:bodyPr>
          <a:lstStyle/>
          <a:p>
            <a:pPr algn="l">
              <a:defRPr sz="2800" b="1">
                <a:solidFill>
                  <a:srgbClr val="1C1C1C"/>
                </a:solidFill>
                <a:latin typeface="Calibri"/>
              </a:defRPr>
            </a:pPr>
            <a:r>
              <a:t>ICER = (Cost_new − Cost_now) ÷ (Effect_new − Effect_now)</a:t>
            </a:r>
          </a:p>
        </p:txBody>
      </p:sp>
      <p:sp>
        <p:nvSpPr>
          <p:cNvPr id="6" name="TextBox 5"/>
          <p:cNvSpPr txBox="1"/>
          <p:nvPr/>
        </p:nvSpPr>
        <p:spPr>
          <a:xfrm>
            <a:off x="731520" y="4114800"/>
            <a:ext cx="6309360" cy="1920240"/>
          </a:xfrm>
          <a:prstGeom prst="rect">
            <a:avLst/>
          </a:prstGeom>
          <a:noFill/>
        </p:spPr>
        <p:txBody>
          <a:bodyPr wrap="square">
            <a:spAutoFit/>
          </a:bodyPr>
          <a:lstStyle/>
          <a:p>
            <a:pPr algn="l">
              <a:spcAft>
                <a:spcPts val="800"/>
              </a:spcAft>
              <a:defRPr sz="1900" b="0">
                <a:solidFill>
                  <a:srgbClr val="424242"/>
                </a:solidFill>
                <a:latin typeface="Calibri"/>
              </a:defRPr>
            </a:pPr>
            <a:r>
              <a:t>The cost of buying one more unit of health.</a:t>
            </a:r>
          </a:p>
          <a:p>
            <a:pPr algn="l">
              <a:spcAft>
                <a:spcPts val="800"/>
              </a:spcAft>
              <a:defRPr sz="1900" b="0">
                <a:solidFill>
                  <a:srgbClr val="424242"/>
                </a:solidFill>
                <a:latin typeface="Calibri"/>
              </a:defRPr>
            </a:pPr>
            <a:r>
              <a:t>"How much extra do we pay for each extra unit gained?"</a:t>
            </a:r>
          </a:p>
          <a:p>
            <a:pPr algn="l">
              <a:spcAft>
                <a:spcPts val="800"/>
              </a:spcAft>
              <a:defRPr sz="1900" b="0">
                <a:solidFill>
                  <a:srgbClr val="424242"/>
                </a:solidFill>
                <a:latin typeface="Calibri"/>
              </a:defRPr>
            </a:pPr>
            <a:r>
              <a:t>The comparison is always against current practice.</a:t>
            </a:r>
          </a:p>
        </p:txBody>
      </p:sp>
      <p:pic>
        <p:nvPicPr>
          <p:cNvPr id="7" name="Picture 6" descr="cea-concept-icer-ratio.png"/>
          <p:cNvPicPr>
            <a:picLocks noChangeAspect="1"/>
          </p:cNvPicPr>
          <p:nvPr/>
        </p:nvPicPr>
        <p:blipFill>
          <a:blip r:embed="rId2"/>
          <a:stretch>
            <a:fillRect/>
          </a:stretch>
        </p:blipFill>
        <p:spPr>
          <a:xfrm>
            <a:off x="7360920" y="1737360"/>
            <a:ext cx="4206240" cy="420624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A77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881360" cy="960120"/>
          </a:xfrm>
          <a:prstGeom prst="rect">
            <a:avLst/>
          </a:prstGeom>
          <a:noFill/>
        </p:spPr>
        <p:txBody>
          <a:bodyPr wrap="square">
            <a:spAutoFit/>
          </a:bodyPr>
          <a:lstStyle/>
          <a:p>
            <a:pPr algn="l">
              <a:defRPr sz="2800" b="1">
                <a:solidFill>
                  <a:srgbClr val="003080"/>
                </a:solidFill>
                <a:latin typeface="Calibri"/>
              </a:defRPr>
            </a:pPr>
            <a:r>
              <a:t>Worked Example: Diabetes Screening</a:t>
            </a:r>
          </a:p>
        </p:txBody>
      </p:sp>
      <p:sp>
        <p:nvSpPr>
          <p:cNvPr id="5" name="TextBox 4"/>
          <p:cNvSpPr txBox="1"/>
          <p:nvPr/>
        </p:nvSpPr>
        <p:spPr>
          <a:xfrm>
            <a:off x="822960" y="1417320"/>
            <a:ext cx="10607040" cy="822960"/>
          </a:xfrm>
          <a:prstGeom prst="rect">
            <a:avLst/>
          </a:prstGeom>
          <a:noFill/>
        </p:spPr>
        <p:txBody>
          <a:bodyPr wrap="square">
            <a:spAutoFit/>
          </a:bodyPr>
          <a:lstStyle/>
          <a:p>
            <a:pPr algn="l">
              <a:defRPr sz="1900" b="0">
                <a:solidFill>
                  <a:srgbClr val="424242"/>
                </a:solidFill>
                <a:latin typeface="Calibri"/>
              </a:defRPr>
            </a:pPr>
            <a:r>
              <a:t>A county weighs expanding diabetes screening to a new population.</a:t>
            </a:r>
          </a:p>
        </p:txBody>
      </p:sp>
      <p:sp>
        <p:nvSpPr>
          <p:cNvPr id="6" name="TextBox 5"/>
          <p:cNvSpPr txBox="1"/>
          <p:nvPr/>
        </p:nvSpPr>
        <p:spPr>
          <a:xfrm>
            <a:off x="822960" y="2286000"/>
            <a:ext cx="6583680" cy="2743200"/>
          </a:xfrm>
          <a:prstGeom prst="rect">
            <a:avLst/>
          </a:prstGeom>
          <a:noFill/>
        </p:spPr>
        <p:txBody>
          <a:bodyPr wrap="square">
            <a:spAutoFit/>
          </a:bodyPr>
          <a:lstStyle/>
          <a:p>
            <a:pPr algn="l">
              <a:spcAft>
                <a:spcPts val="800"/>
              </a:spcAft>
              <a:defRPr sz="2000" b="0">
                <a:solidFill>
                  <a:srgbClr val="1C1C1C"/>
                </a:solidFill>
                <a:latin typeface="Calibri"/>
              </a:defRPr>
            </a:pPr>
            <a:r>
              <a:t>Current:  $500K  →  50 cases prevented</a:t>
            </a:r>
          </a:p>
          <a:p>
            <a:pPr algn="l">
              <a:spcAft>
                <a:spcPts val="800"/>
              </a:spcAft>
              <a:defRPr sz="2000" b="0">
                <a:solidFill>
                  <a:srgbClr val="1C1C1C"/>
                </a:solidFill>
                <a:latin typeface="Calibri"/>
              </a:defRPr>
            </a:pPr>
            <a:r>
              <a:t>Expanded: $800K  →  80 cases prevented</a:t>
            </a:r>
          </a:p>
          <a:p>
            <a:pPr algn="l">
              <a:spcAft>
                <a:spcPts val="800"/>
              </a:spcAft>
              <a:defRPr sz="2000" b="0">
                <a:solidFill>
                  <a:srgbClr val="1C1C1C"/>
                </a:solidFill>
                <a:latin typeface="Calibri"/>
              </a:defRPr>
            </a:pPr>
            <a:r>
              <a:t>──────────────────────────</a:t>
            </a:r>
          </a:p>
          <a:p>
            <a:pPr algn="l">
              <a:spcAft>
                <a:spcPts val="800"/>
              </a:spcAft>
              <a:defRPr sz="2000" b="0">
                <a:solidFill>
                  <a:srgbClr val="1C1C1C"/>
                </a:solidFill>
                <a:latin typeface="Calibri"/>
              </a:defRPr>
            </a:pPr>
            <a:r>
              <a:t>Extra cost:   $300,000</a:t>
            </a:r>
          </a:p>
          <a:p>
            <a:pPr algn="l">
              <a:spcAft>
                <a:spcPts val="800"/>
              </a:spcAft>
              <a:defRPr sz="2000" b="0">
                <a:solidFill>
                  <a:srgbClr val="1C1C1C"/>
                </a:solidFill>
                <a:latin typeface="Calibri"/>
              </a:defRPr>
            </a:pPr>
            <a:r>
              <a:t>Extra effect: 30 cases</a:t>
            </a:r>
          </a:p>
          <a:p>
            <a:pPr algn="l">
              <a:spcAft>
                <a:spcPts val="800"/>
              </a:spcAft>
              <a:defRPr sz="2000" b="0">
                <a:solidFill>
                  <a:srgbClr val="1C1C1C"/>
                </a:solidFill>
                <a:latin typeface="Calibri"/>
              </a:defRPr>
            </a:pPr>
            <a:r>
              <a:t>ICER = $300K ÷ 30</a:t>
            </a:r>
          </a:p>
        </p:txBody>
      </p:sp>
      <p:sp>
        <p:nvSpPr>
          <p:cNvPr id="7" name="TextBox 6"/>
          <p:cNvSpPr txBox="1"/>
          <p:nvPr/>
        </p:nvSpPr>
        <p:spPr>
          <a:xfrm>
            <a:off x="7680960" y="2286000"/>
            <a:ext cx="3749039" cy="1280160"/>
          </a:xfrm>
          <a:prstGeom prst="rect">
            <a:avLst/>
          </a:prstGeom>
          <a:noFill/>
        </p:spPr>
        <p:txBody>
          <a:bodyPr wrap="square" anchor="ctr">
            <a:spAutoFit/>
          </a:bodyPr>
          <a:lstStyle/>
          <a:p>
            <a:pPr algn="ctr">
              <a:defRPr sz="2600" b="1">
                <a:solidFill>
                  <a:srgbClr val="003080"/>
                </a:solidFill>
                <a:latin typeface="Calibri"/>
              </a:defRPr>
            </a:pPr>
            <a:r>
              <a:t>$10,000</a:t>
            </a:r>
            <a:br/>
            <a:r>
              <a:t>per case prevented</a:t>
            </a:r>
          </a:p>
        </p:txBody>
      </p:sp>
      <p:sp>
        <p:nvSpPr>
          <p:cNvPr id="8" name="TextBox 7"/>
          <p:cNvSpPr txBox="1"/>
          <p:nvPr/>
        </p:nvSpPr>
        <p:spPr>
          <a:xfrm>
            <a:off x="7680960" y="3749039"/>
            <a:ext cx="3749039" cy="2194560"/>
          </a:xfrm>
          <a:prstGeom prst="rect">
            <a:avLst/>
          </a:prstGeom>
          <a:noFill/>
        </p:spPr>
        <p:txBody>
          <a:bodyPr wrap="square">
            <a:spAutoFit/>
          </a:bodyPr>
          <a:lstStyle/>
          <a:p>
            <a:pPr algn="l">
              <a:defRPr sz="1700" b="0">
                <a:solidFill>
                  <a:srgbClr val="424242"/>
                </a:solidFill>
                <a:latin typeface="Calibri"/>
              </a:defRPr>
            </a:pPr>
            <a:r>
              <a:t>We pay $10,000 for each additional case prevented. Worth it? It depends on the downstream cost of a diabetes case and the threshold we apply.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A77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881360" cy="960120"/>
          </a:xfrm>
          <a:prstGeom prst="rect">
            <a:avLst/>
          </a:prstGeom>
          <a:noFill/>
        </p:spPr>
        <p:txBody>
          <a:bodyPr wrap="square">
            <a:spAutoFit/>
          </a:bodyPr>
          <a:lstStyle/>
          <a:p>
            <a:pPr algn="l">
              <a:defRPr sz="2800" b="1">
                <a:solidFill>
                  <a:srgbClr val="003080"/>
                </a:solidFill>
                <a:latin typeface="Calibri"/>
              </a:defRPr>
            </a:pPr>
            <a:r>
              <a:t>California Example: Promotora Case Management</a:t>
            </a:r>
          </a:p>
        </p:txBody>
      </p:sp>
      <p:sp>
        <p:nvSpPr>
          <p:cNvPr id="5" name="TextBox 4"/>
          <p:cNvSpPr txBox="1"/>
          <p:nvPr/>
        </p:nvSpPr>
        <p:spPr>
          <a:xfrm>
            <a:off x="822960" y="1417320"/>
            <a:ext cx="10607040" cy="822960"/>
          </a:xfrm>
          <a:prstGeom prst="rect">
            <a:avLst/>
          </a:prstGeom>
          <a:noFill/>
        </p:spPr>
        <p:txBody>
          <a:bodyPr wrap="square">
            <a:spAutoFit/>
          </a:bodyPr>
          <a:lstStyle/>
          <a:p>
            <a:pPr algn="l">
              <a:defRPr sz="1900" b="0">
                <a:solidFill>
                  <a:srgbClr val="424242"/>
                </a:solidFill>
                <a:latin typeface="Calibri"/>
              </a:defRPr>
            </a:pPr>
            <a:r>
              <a:t>Diabetes case management with nurse managers and promotora peer educators at community health centers (low-income, predominantly Latino patients).</a:t>
            </a:r>
          </a:p>
        </p:txBody>
      </p:sp>
      <p:sp>
        <p:nvSpPr>
          <p:cNvPr id="6" name="TextBox 5"/>
          <p:cNvSpPr txBox="1"/>
          <p:nvPr/>
        </p:nvSpPr>
        <p:spPr>
          <a:xfrm>
            <a:off x="822960" y="2286000"/>
            <a:ext cx="6583680" cy="2743200"/>
          </a:xfrm>
          <a:prstGeom prst="rect">
            <a:avLst/>
          </a:prstGeom>
          <a:noFill/>
        </p:spPr>
        <p:txBody>
          <a:bodyPr wrap="square">
            <a:spAutoFit/>
          </a:bodyPr>
          <a:lstStyle/>
          <a:p>
            <a:pPr algn="l">
              <a:spcAft>
                <a:spcPts val="800"/>
              </a:spcAft>
              <a:defRPr sz="2000" b="0">
                <a:solidFill>
                  <a:srgbClr val="1C1C1C"/>
                </a:solidFill>
                <a:latin typeface="Calibri"/>
              </a:defRPr>
            </a:pPr>
            <a:r>
              <a:t>Cost: $1,537/patient, year 1</a:t>
            </a:r>
          </a:p>
          <a:p>
            <a:pPr algn="l">
              <a:spcAft>
                <a:spcPts val="800"/>
              </a:spcAft>
              <a:defRPr sz="2000" b="0">
                <a:solidFill>
                  <a:srgbClr val="1C1C1C"/>
                </a:solidFill>
                <a:latin typeface="Calibri"/>
              </a:defRPr>
            </a:pPr>
            <a:r>
              <a:t>Medi-Cal cohort (n=1,213):</a:t>
            </a:r>
          </a:p>
          <a:p>
            <a:pPr algn="l">
              <a:spcAft>
                <a:spcPts val="800"/>
              </a:spcAft>
              <a:defRPr sz="2000" b="0">
                <a:solidFill>
                  <a:srgbClr val="1C1C1C"/>
                </a:solidFill>
                <a:latin typeface="Calibri"/>
              </a:defRPr>
            </a:pPr>
            <a:r>
              <a:t>  HbA1c:  −0.5 % points</a:t>
            </a:r>
          </a:p>
          <a:p>
            <a:pPr algn="l">
              <a:spcAft>
                <a:spcPts val="800"/>
              </a:spcAft>
              <a:defRPr sz="2000" b="0">
                <a:solidFill>
                  <a:srgbClr val="1C1C1C"/>
                </a:solidFill>
                <a:latin typeface="Calibri"/>
              </a:defRPr>
            </a:pPr>
            <a:r>
              <a:t>  Systolic BP:  −1.9 mmHg</a:t>
            </a:r>
          </a:p>
          <a:p>
            <a:pPr algn="l">
              <a:spcAft>
                <a:spcPts val="800"/>
              </a:spcAft>
              <a:defRPr sz="2000" b="0">
                <a:solidFill>
                  <a:srgbClr val="1C1C1C"/>
                </a:solidFill>
                <a:latin typeface="Calibri"/>
              </a:defRPr>
            </a:pPr>
            <a:r>
              <a:t>──────────────────────────</a:t>
            </a:r>
          </a:p>
          <a:p>
            <a:pPr algn="l">
              <a:spcAft>
                <a:spcPts val="800"/>
              </a:spcAft>
              <a:defRPr sz="2000" b="0">
                <a:solidFill>
                  <a:srgbClr val="1C1C1C"/>
                </a:solidFill>
                <a:latin typeface="Calibri"/>
              </a:defRPr>
            </a:pPr>
            <a:r>
              <a:t>ICER (Medi-Cal cohort)</a:t>
            </a:r>
          </a:p>
        </p:txBody>
      </p:sp>
      <p:sp>
        <p:nvSpPr>
          <p:cNvPr id="7" name="TextBox 6"/>
          <p:cNvSpPr txBox="1"/>
          <p:nvPr/>
        </p:nvSpPr>
        <p:spPr>
          <a:xfrm>
            <a:off x="7680960" y="2286000"/>
            <a:ext cx="3749039" cy="1280160"/>
          </a:xfrm>
          <a:prstGeom prst="rect">
            <a:avLst/>
          </a:prstGeom>
          <a:noFill/>
        </p:spPr>
        <p:txBody>
          <a:bodyPr wrap="square" anchor="ctr">
            <a:spAutoFit/>
          </a:bodyPr>
          <a:lstStyle/>
          <a:p>
            <a:pPr algn="ctr">
              <a:defRPr sz="2600" b="1">
                <a:solidFill>
                  <a:srgbClr val="003080"/>
                </a:solidFill>
                <a:latin typeface="Calibri"/>
              </a:defRPr>
            </a:pPr>
            <a:r>
              <a:t>$44,941</a:t>
            </a:r>
            <a:br/>
            <a:r>
              <a:t>per QALY gained</a:t>
            </a:r>
          </a:p>
        </p:txBody>
      </p:sp>
      <p:sp>
        <p:nvSpPr>
          <p:cNvPr id="8" name="TextBox 7"/>
          <p:cNvSpPr txBox="1"/>
          <p:nvPr/>
        </p:nvSpPr>
        <p:spPr>
          <a:xfrm>
            <a:off x="7680960" y="3749039"/>
            <a:ext cx="3749039" cy="2194560"/>
          </a:xfrm>
          <a:prstGeom prst="rect">
            <a:avLst/>
          </a:prstGeom>
          <a:noFill/>
        </p:spPr>
        <p:txBody>
          <a:bodyPr wrap="square">
            <a:spAutoFit/>
          </a:bodyPr>
          <a:lstStyle/>
          <a:p>
            <a:pPr algn="l">
              <a:defRPr sz="1700" b="0">
                <a:solidFill>
                  <a:srgbClr val="424242"/>
                </a:solidFill>
                <a:latin typeface="Calibri"/>
              </a:defRPr>
            </a:pPr>
            <a:r>
              <a:t>Just below a $50,000/QALY benchmark. The uninsured cohort reached $10,141/QALY. Cohort differences can reflect baseline severity and sample composition, not the program alone.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A77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881360" cy="960120"/>
          </a:xfrm>
          <a:prstGeom prst="rect">
            <a:avLst/>
          </a:prstGeom>
          <a:noFill/>
        </p:spPr>
        <p:txBody>
          <a:bodyPr wrap="square">
            <a:spAutoFit/>
          </a:bodyPr>
          <a:lstStyle/>
          <a:p>
            <a:pPr algn="l">
              <a:defRPr sz="2800" b="1">
                <a:solidFill>
                  <a:srgbClr val="003080"/>
                </a:solidFill>
                <a:latin typeface="Calibri"/>
              </a:defRPr>
            </a:pPr>
            <a:r>
              <a:t>Decision Thresholds: What's "Cost-Effective"?</a:t>
            </a:r>
          </a:p>
        </p:txBody>
      </p:sp>
      <p:sp>
        <p:nvSpPr>
          <p:cNvPr id="5" name="TextBox 4"/>
          <p:cNvSpPr txBox="1"/>
          <p:nvPr/>
        </p:nvSpPr>
        <p:spPr>
          <a:xfrm>
            <a:off x="822960" y="2011680"/>
            <a:ext cx="1859280" cy="1188720"/>
          </a:xfrm>
          <a:prstGeom prst="rect">
            <a:avLst/>
          </a:prstGeom>
          <a:noFill/>
        </p:spPr>
        <p:txBody>
          <a:bodyPr wrap="square" anchor="ctr">
            <a:spAutoFit/>
          </a:bodyPr>
          <a:lstStyle/>
          <a:p>
            <a:pPr algn="ctr">
              <a:defRPr sz="3800" b="1">
                <a:solidFill>
                  <a:srgbClr val="003080"/>
                </a:solidFill>
                <a:latin typeface="Calibri"/>
              </a:defRPr>
            </a:pPr>
            <a:r>
              <a:t>&lt; $50K</a:t>
            </a:r>
          </a:p>
        </p:txBody>
      </p:sp>
      <p:sp>
        <p:nvSpPr>
          <p:cNvPr id="6" name="TextBox 5"/>
          <p:cNvSpPr txBox="1"/>
          <p:nvPr/>
        </p:nvSpPr>
        <p:spPr>
          <a:xfrm>
            <a:off x="822960" y="3291840"/>
            <a:ext cx="1859280" cy="2468880"/>
          </a:xfrm>
          <a:prstGeom prst="rect">
            <a:avLst/>
          </a:prstGeom>
          <a:noFill/>
        </p:spPr>
        <p:txBody>
          <a:bodyPr wrap="square">
            <a:spAutoFit/>
          </a:bodyPr>
          <a:lstStyle/>
          <a:p>
            <a:pPr algn="ctr">
              <a:spcAft>
                <a:spcPts val="600"/>
              </a:spcAft>
              <a:defRPr sz="1800" b="0">
                <a:solidFill>
                  <a:srgbClr val="1C1C1C"/>
                </a:solidFill>
                <a:latin typeface="Calibri"/>
              </a:defRPr>
            </a:pPr>
            <a:r>
              <a:t>per QALY</a:t>
            </a:r>
          </a:p>
          <a:p>
            <a:pPr algn="ctr">
              <a:spcAft>
                <a:spcPts val="600"/>
              </a:spcAft>
              <a:defRPr sz="1800" b="0">
                <a:solidFill>
                  <a:srgbClr val="1C1C1C"/>
                </a:solidFill>
                <a:latin typeface="Calibri"/>
              </a:defRPr>
            </a:pPr>
            <a:r>
              <a:t>Highly</a:t>
            </a:r>
          </a:p>
          <a:p>
            <a:pPr algn="ctr">
              <a:spcAft>
                <a:spcPts val="600"/>
              </a:spcAft>
              <a:defRPr sz="1800" b="0">
                <a:solidFill>
                  <a:srgbClr val="1C1C1C"/>
                </a:solidFill>
                <a:latin typeface="Calibri"/>
              </a:defRPr>
            </a:pPr>
            <a:r>
              <a:t>cost-effective</a:t>
            </a:r>
          </a:p>
          <a:p>
            <a:pPr algn="ctr">
              <a:spcAft>
                <a:spcPts val="600"/>
              </a:spcAft>
              <a:defRPr sz="1800" b="0">
                <a:solidFill>
                  <a:srgbClr val="1C1C1C"/>
                </a:solidFill>
                <a:latin typeface="Calibri"/>
              </a:defRPr>
            </a:pPr>
            <a:r>
              <a:t>Strong case</a:t>
            </a:r>
          </a:p>
        </p:txBody>
      </p:sp>
      <p:sp>
        <p:nvSpPr>
          <p:cNvPr id="7" name="TextBox 6"/>
          <p:cNvSpPr txBox="1"/>
          <p:nvPr/>
        </p:nvSpPr>
        <p:spPr>
          <a:xfrm>
            <a:off x="3048000" y="2011680"/>
            <a:ext cx="1859280" cy="1188720"/>
          </a:xfrm>
          <a:prstGeom prst="rect">
            <a:avLst/>
          </a:prstGeom>
          <a:noFill/>
        </p:spPr>
        <p:txBody>
          <a:bodyPr wrap="square" anchor="ctr">
            <a:spAutoFit/>
          </a:bodyPr>
          <a:lstStyle/>
          <a:p>
            <a:pPr algn="ctr">
              <a:defRPr sz="3800" b="1">
                <a:solidFill>
                  <a:srgbClr val="003080"/>
                </a:solidFill>
                <a:latin typeface="Calibri"/>
              </a:defRPr>
            </a:pPr>
            <a:r>
              <a:t>$50–150K</a:t>
            </a:r>
          </a:p>
        </p:txBody>
      </p:sp>
      <p:sp>
        <p:nvSpPr>
          <p:cNvPr id="8" name="TextBox 7"/>
          <p:cNvSpPr txBox="1"/>
          <p:nvPr/>
        </p:nvSpPr>
        <p:spPr>
          <a:xfrm>
            <a:off x="3048000" y="3291840"/>
            <a:ext cx="1859280" cy="2468880"/>
          </a:xfrm>
          <a:prstGeom prst="rect">
            <a:avLst/>
          </a:prstGeom>
          <a:noFill/>
        </p:spPr>
        <p:txBody>
          <a:bodyPr wrap="square">
            <a:spAutoFit/>
          </a:bodyPr>
          <a:lstStyle/>
          <a:p>
            <a:pPr algn="ctr">
              <a:spcAft>
                <a:spcPts val="600"/>
              </a:spcAft>
              <a:defRPr sz="1800" b="0">
                <a:solidFill>
                  <a:srgbClr val="1C1C1C"/>
                </a:solidFill>
                <a:latin typeface="Calibri"/>
              </a:defRPr>
            </a:pPr>
            <a:r>
              <a:t>per QALY</a:t>
            </a:r>
          </a:p>
          <a:p>
            <a:pPr algn="ctr">
              <a:spcAft>
                <a:spcPts val="600"/>
              </a:spcAft>
              <a:defRPr sz="1800" b="0">
                <a:solidFill>
                  <a:srgbClr val="1C1C1C"/>
                </a:solidFill>
                <a:latin typeface="Calibri"/>
              </a:defRPr>
            </a:pPr>
            <a:r>
              <a:t>Potentially</a:t>
            </a:r>
          </a:p>
          <a:p>
            <a:pPr algn="ctr">
              <a:spcAft>
                <a:spcPts val="600"/>
              </a:spcAft>
              <a:defRPr sz="1800" b="0">
                <a:solidFill>
                  <a:srgbClr val="1C1C1C"/>
                </a:solidFill>
                <a:latin typeface="Calibri"/>
              </a:defRPr>
            </a:pPr>
            <a:r>
              <a:t>cost-effective</a:t>
            </a:r>
          </a:p>
          <a:p>
            <a:pPr algn="ctr">
              <a:spcAft>
                <a:spcPts val="600"/>
              </a:spcAft>
              <a:defRPr sz="1800" b="0">
                <a:solidFill>
                  <a:srgbClr val="1C1C1C"/>
                </a:solidFill>
                <a:latin typeface="Calibri"/>
              </a:defRPr>
            </a:pPr>
            <a:r>
              <a:t>Context-dependent</a:t>
            </a:r>
          </a:p>
        </p:txBody>
      </p:sp>
      <p:sp>
        <p:nvSpPr>
          <p:cNvPr id="9" name="TextBox 8"/>
          <p:cNvSpPr txBox="1"/>
          <p:nvPr/>
        </p:nvSpPr>
        <p:spPr>
          <a:xfrm>
            <a:off x="5273040" y="2011680"/>
            <a:ext cx="1859280" cy="1188720"/>
          </a:xfrm>
          <a:prstGeom prst="rect">
            <a:avLst/>
          </a:prstGeom>
          <a:noFill/>
        </p:spPr>
        <p:txBody>
          <a:bodyPr wrap="square" anchor="ctr">
            <a:spAutoFit/>
          </a:bodyPr>
          <a:lstStyle/>
          <a:p>
            <a:pPr algn="ctr">
              <a:defRPr sz="3800" b="1">
                <a:solidFill>
                  <a:srgbClr val="003080"/>
                </a:solidFill>
                <a:latin typeface="Calibri"/>
              </a:defRPr>
            </a:pPr>
            <a:r>
              <a:t>&gt; $150K</a:t>
            </a:r>
          </a:p>
        </p:txBody>
      </p:sp>
      <p:sp>
        <p:nvSpPr>
          <p:cNvPr id="10" name="TextBox 9"/>
          <p:cNvSpPr txBox="1"/>
          <p:nvPr/>
        </p:nvSpPr>
        <p:spPr>
          <a:xfrm>
            <a:off x="5273040" y="3291840"/>
            <a:ext cx="1859280" cy="2468880"/>
          </a:xfrm>
          <a:prstGeom prst="rect">
            <a:avLst/>
          </a:prstGeom>
          <a:noFill/>
        </p:spPr>
        <p:txBody>
          <a:bodyPr wrap="square">
            <a:spAutoFit/>
          </a:bodyPr>
          <a:lstStyle/>
          <a:p>
            <a:pPr algn="ctr">
              <a:spcAft>
                <a:spcPts val="600"/>
              </a:spcAft>
              <a:defRPr sz="1800" b="0">
                <a:solidFill>
                  <a:srgbClr val="1C1C1C"/>
                </a:solidFill>
                <a:latin typeface="Calibri"/>
              </a:defRPr>
            </a:pPr>
            <a:r>
              <a:t>per QALY</a:t>
            </a:r>
          </a:p>
          <a:p>
            <a:pPr algn="ctr">
              <a:spcAft>
                <a:spcPts val="600"/>
              </a:spcAft>
              <a:defRPr sz="1800" b="0">
                <a:solidFill>
                  <a:srgbClr val="1C1C1C"/>
                </a:solidFill>
                <a:latin typeface="Calibri"/>
              </a:defRPr>
            </a:pPr>
            <a:r>
              <a:t>Less</a:t>
            </a:r>
          </a:p>
          <a:p>
            <a:pPr algn="ctr">
              <a:spcAft>
                <a:spcPts val="600"/>
              </a:spcAft>
              <a:defRPr sz="1800" b="0">
                <a:solidFill>
                  <a:srgbClr val="1C1C1C"/>
                </a:solidFill>
                <a:latin typeface="Calibri"/>
              </a:defRPr>
            </a:pPr>
            <a:r>
              <a:t>cost-effective</a:t>
            </a:r>
          </a:p>
          <a:p>
            <a:pPr algn="ctr">
              <a:spcAft>
                <a:spcPts val="600"/>
              </a:spcAft>
              <a:defRPr sz="1800" b="0">
                <a:solidFill>
                  <a:srgbClr val="1C1C1C"/>
                </a:solidFill>
                <a:latin typeface="Calibri"/>
              </a:defRPr>
            </a:pPr>
            <a:r>
              <a:t>Higher bar</a:t>
            </a:r>
          </a:p>
        </p:txBody>
      </p:sp>
      <p:pic>
        <p:nvPicPr>
          <p:cNvPr id="11" name="Picture 10" descr="cea-concept-thresholds.png"/>
          <p:cNvPicPr>
            <a:picLocks noChangeAspect="1"/>
          </p:cNvPicPr>
          <p:nvPr/>
        </p:nvPicPr>
        <p:blipFill>
          <a:blip r:embed="rId2"/>
          <a:stretch>
            <a:fillRect/>
          </a:stretch>
        </p:blipFill>
        <p:spPr>
          <a:xfrm>
            <a:off x="7360920" y="1783080"/>
            <a:ext cx="4206240" cy="4206240"/>
          </a:xfrm>
          <a:prstGeom prst="rect">
            <a:avLst/>
          </a:prstGeom>
        </p:spPr>
      </p:pic>
      <p:sp>
        <p:nvSpPr>
          <p:cNvPr id="12" name="TextBox 11"/>
          <p:cNvSpPr txBox="1"/>
          <p:nvPr/>
        </p:nvSpPr>
        <p:spPr>
          <a:xfrm>
            <a:off x="640080" y="6355080"/>
            <a:ext cx="10881360" cy="411480"/>
          </a:xfrm>
          <a:prstGeom prst="rect">
            <a:avLst/>
          </a:prstGeom>
          <a:noFill/>
        </p:spPr>
        <p:txBody>
          <a:bodyPr wrap="square">
            <a:spAutoFit/>
          </a:bodyPr>
          <a:lstStyle/>
          <a:p>
            <a:pPr algn="l">
              <a:defRPr sz="1300" b="0">
                <a:solidFill>
                  <a:srgbClr val="424242"/>
                </a:solidFill>
                <a:latin typeface="Calibri"/>
              </a:defRPr>
            </a:pPr>
            <a:r>
              <a:t>Guidelines, not rules. The U.S. has no official threshold; some argue $200K+.</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A77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881360" cy="960120"/>
          </a:xfrm>
          <a:prstGeom prst="rect">
            <a:avLst/>
          </a:prstGeom>
          <a:noFill/>
        </p:spPr>
        <p:txBody>
          <a:bodyPr wrap="square">
            <a:spAutoFit/>
          </a:bodyPr>
          <a:lstStyle/>
          <a:p>
            <a:pPr algn="l">
              <a:defRPr sz="2800" b="1">
                <a:solidFill>
                  <a:srgbClr val="003080"/>
                </a:solidFill>
                <a:latin typeface="Calibri"/>
              </a:defRPr>
            </a:pPr>
            <a:r>
              <a:t>When "Not Cost-Effective" Isn't the End</a:t>
            </a:r>
          </a:p>
        </p:txBody>
      </p:sp>
      <p:sp>
        <p:nvSpPr>
          <p:cNvPr id="5" name="TextBox 4"/>
          <p:cNvSpPr txBox="1"/>
          <p:nvPr/>
        </p:nvSpPr>
        <p:spPr>
          <a:xfrm>
            <a:off x="822960" y="1508760"/>
            <a:ext cx="6309360" cy="4663440"/>
          </a:xfrm>
          <a:prstGeom prst="rect">
            <a:avLst/>
          </a:prstGeom>
          <a:noFill/>
        </p:spPr>
        <p:txBody>
          <a:bodyPr wrap="square">
            <a:spAutoFit/>
          </a:bodyPr>
          <a:lstStyle/>
          <a:p>
            <a:pPr algn="l">
              <a:spcAft>
                <a:spcPts val="1000"/>
              </a:spcAft>
              <a:defRPr sz="2000" b="0">
                <a:solidFill>
                  <a:srgbClr val="1C1C1C"/>
                </a:solidFill>
                <a:latin typeface="Calibri"/>
              </a:defRPr>
            </a:pPr>
            <a:r>
              <a:t>•  Cost-effectiveness is one input, not the verdict</a:t>
            </a:r>
          </a:p>
          <a:p>
            <a:pPr algn="l">
              <a:spcAft>
                <a:spcPts val="1000"/>
              </a:spcAft>
              <a:defRPr sz="2000" b="0">
                <a:solidFill>
                  <a:srgbClr val="1C1C1C"/>
                </a:solidFill>
                <a:latin typeface="Calibri"/>
              </a:defRPr>
            </a:pPr>
            <a:r>
              <a:t>•  Equity: serving the underserved can justify more</a:t>
            </a:r>
          </a:p>
          <a:p>
            <a:pPr algn="l">
              <a:spcAft>
                <a:spcPts val="1000"/>
              </a:spcAft>
              <a:defRPr sz="2000" b="0">
                <a:solidFill>
                  <a:srgbClr val="1C1C1C"/>
                </a:solidFill>
                <a:latin typeface="Calibri"/>
              </a:defRPr>
            </a:pPr>
            <a:r>
              <a:t>•  Legal or ethical duty: some services are required</a:t>
            </a:r>
          </a:p>
          <a:p>
            <a:pPr algn="l">
              <a:spcAft>
                <a:spcPts val="1000"/>
              </a:spcAft>
              <a:defRPr sz="2000" b="0">
                <a:solidFill>
                  <a:srgbClr val="1C1C1C"/>
                </a:solidFill>
                <a:latin typeface="Calibri"/>
              </a:defRPr>
            </a:pPr>
            <a:r>
              <a:t>•  Community priorities: values matter beyond efficiency</a:t>
            </a:r>
          </a:p>
          <a:p>
            <a:pPr algn="l">
              <a:spcAft>
                <a:spcPts val="1000"/>
              </a:spcAft>
              <a:defRPr sz="2000" b="0">
                <a:solidFill>
                  <a:srgbClr val="1C1C1C"/>
                </a:solidFill>
                <a:latin typeface="Calibri"/>
              </a:defRPr>
            </a:pPr>
            <a:r>
              <a:t>•  No alternative: an expensive option beats nothing</a:t>
            </a:r>
          </a:p>
          <a:p>
            <a:pPr algn="l">
              <a:spcAft>
                <a:spcPts val="1000"/>
              </a:spcAft>
              <a:defRPr sz="2000" b="0">
                <a:solidFill>
                  <a:srgbClr val="1C1C1C"/>
                </a:solidFill>
                <a:latin typeface="Calibri"/>
              </a:defRPr>
            </a:pPr>
            <a:r>
              <a:t>•  Strategic: capacity now pays off in ways CEA misses</a:t>
            </a:r>
          </a:p>
        </p:txBody>
      </p:sp>
      <p:pic>
        <p:nvPicPr>
          <p:cNvPr id="6" name="Picture 5" descr="cea-concept-beyond.png"/>
          <p:cNvPicPr>
            <a:picLocks noChangeAspect="1"/>
          </p:cNvPicPr>
          <p:nvPr/>
        </p:nvPicPr>
        <p:blipFill>
          <a:blip r:embed="rId2"/>
          <a:stretch>
            <a:fillRect/>
          </a:stretch>
        </p:blipFill>
        <p:spPr>
          <a:xfrm>
            <a:off x="7360920" y="1600200"/>
            <a:ext cx="4206240" cy="420624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A77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881360" cy="960120"/>
          </a:xfrm>
          <a:prstGeom prst="rect">
            <a:avLst/>
          </a:prstGeom>
          <a:noFill/>
        </p:spPr>
        <p:txBody>
          <a:bodyPr wrap="square">
            <a:spAutoFit/>
          </a:bodyPr>
          <a:lstStyle/>
          <a:p>
            <a:pPr algn="l">
              <a:defRPr sz="2800" b="1">
                <a:solidFill>
                  <a:srgbClr val="003080"/>
                </a:solidFill>
                <a:latin typeface="Calibri"/>
              </a:defRPr>
            </a:pPr>
            <a:r>
              <a:t>Budget Impact: Can We Afford It?</a:t>
            </a:r>
          </a:p>
        </p:txBody>
      </p:sp>
      <p:sp>
        <p:nvSpPr>
          <p:cNvPr id="5" name="TextBox 4"/>
          <p:cNvSpPr txBox="1"/>
          <p:nvPr/>
        </p:nvSpPr>
        <p:spPr>
          <a:xfrm>
            <a:off x="822960" y="1508760"/>
            <a:ext cx="6309360" cy="4663440"/>
          </a:xfrm>
          <a:prstGeom prst="rect">
            <a:avLst/>
          </a:prstGeom>
          <a:noFill/>
        </p:spPr>
        <p:txBody>
          <a:bodyPr wrap="square">
            <a:spAutoFit/>
          </a:bodyPr>
          <a:lstStyle/>
          <a:p>
            <a:pPr algn="l">
              <a:spcAft>
                <a:spcPts val="1000"/>
              </a:spcAft>
              <a:defRPr sz="2000" b="0">
                <a:solidFill>
                  <a:srgbClr val="1C1C1C"/>
                </a:solidFill>
                <a:latin typeface="Calibri"/>
              </a:defRPr>
            </a:pPr>
            <a:r>
              <a:t>•  Cost-effective is not the same as affordable</a:t>
            </a:r>
          </a:p>
          <a:p>
            <a:pPr algn="l">
              <a:spcAft>
                <a:spcPts val="1000"/>
              </a:spcAft>
              <a:defRPr sz="2000" b="0">
                <a:solidFill>
                  <a:srgbClr val="1C1C1C"/>
                </a:solidFill>
                <a:latin typeface="Calibri"/>
              </a:defRPr>
            </a:pPr>
            <a:r>
              <a:t>•  Budget impact asks a different question:</a:t>
            </a:r>
          </a:p>
          <a:p>
            <a:pPr algn="l">
              <a:spcAft>
                <a:spcPts val="600"/>
              </a:spcAft>
              <a:defRPr sz="1900" b="0">
                <a:solidFill>
                  <a:srgbClr val="424242"/>
                </a:solidFill>
                <a:latin typeface="Calibri"/>
              </a:defRPr>
            </a:pPr>
            <a:r>
              <a:t>       –  what does this cost our budget, total, per year?</a:t>
            </a:r>
          </a:p>
          <a:p>
            <a:pPr algn="l">
              <a:spcAft>
                <a:spcPts val="1000"/>
              </a:spcAft>
              <a:defRPr sz="2000" b="0">
                <a:solidFill>
                  <a:srgbClr val="1C1C1C"/>
                </a:solidFill>
                <a:latin typeface="Calibri"/>
              </a:defRPr>
            </a:pPr>
            <a:r>
              <a:t>•  A program can be great value yet unaffordable</a:t>
            </a:r>
          </a:p>
          <a:p>
            <a:pPr algn="l">
              <a:spcAft>
                <a:spcPts val="600"/>
              </a:spcAft>
              <a:defRPr sz="1900" b="0">
                <a:solidFill>
                  <a:srgbClr val="424242"/>
                </a:solidFill>
                <a:latin typeface="Calibri"/>
              </a:defRPr>
            </a:pPr>
            <a:r>
              <a:t>       –  or affordable yet poor value</a:t>
            </a:r>
          </a:p>
          <a:p>
            <a:pPr algn="l">
              <a:spcAft>
                <a:spcPts val="1000"/>
              </a:spcAft>
              <a:defRPr sz="2000" b="0">
                <a:solidFill>
                  <a:srgbClr val="1C1C1C"/>
                </a:solidFill>
                <a:latin typeface="Calibri"/>
              </a:defRPr>
            </a:pPr>
            <a:r>
              <a:t>•  Economists ask both questions, separately</a:t>
            </a:r>
          </a:p>
        </p:txBody>
      </p:sp>
      <p:pic>
        <p:nvPicPr>
          <p:cNvPr id="6" name="Picture 5" descr="roi-concept-investment.png"/>
          <p:cNvPicPr>
            <a:picLocks noChangeAspect="1"/>
          </p:cNvPicPr>
          <p:nvPr/>
        </p:nvPicPr>
        <p:blipFill>
          <a:blip r:embed="rId2"/>
          <a:stretch>
            <a:fillRect/>
          </a:stretch>
        </p:blipFill>
        <p:spPr>
          <a:xfrm>
            <a:off x="7360920" y="1600200"/>
            <a:ext cx="4206240" cy="4206240"/>
          </a:xfrm>
          <a:prstGeom prst="rect">
            <a:avLst/>
          </a:prstGeom>
        </p:spPr>
      </p:pic>
      <p:sp>
        <p:nvSpPr>
          <p:cNvPr id="7" name="TextBox 6"/>
          <p:cNvSpPr txBox="1"/>
          <p:nvPr/>
        </p:nvSpPr>
        <p:spPr>
          <a:xfrm>
            <a:off x="640080" y="6355080"/>
            <a:ext cx="10881360" cy="411480"/>
          </a:xfrm>
          <a:prstGeom prst="rect">
            <a:avLst/>
          </a:prstGeom>
          <a:noFill/>
        </p:spPr>
        <p:txBody>
          <a:bodyPr wrap="square">
            <a:spAutoFit/>
          </a:bodyPr>
          <a:lstStyle/>
          <a:p>
            <a:pPr algn="l">
              <a:defRPr sz="1300" b="0">
                <a:solidFill>
                  <a:srgbClr val="424242"/>
                </a:solidFill>
                <a:latin typeface="Calibri"/>
              </a:defRPr>
            </a:pPr>
            <a:r>
              <a:t>Methods Lab: Budget Impact: Can We Afford It?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A77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881360" cy="960120"/>
          </a:xfrm>
          <a:prstGeom prst="rect">
            <a:avLst/>
          </a:prstGeom>
          <a:noFill/>
        </p:spPr>
        <p:txBody>
          <a:bodyPr wrap="square">
            <a:spAutoFit/>
          </a:bodyPr>
          <a:lstStyle/>
          <a:p>
            <a:pPr algn="l">
              <a:defRPr sz="2800" b="1">
                <a:solidFill>
                  <a:srgbClr val="003080"/>
                </a:solidFill>
                <a:latin typeface="Calibri"/>
              </a:defRPr>
            </a:pPr>
            <a:r>
              <a:t>ROI and Benefit-Cost Analysis</a:t>
            </a:r>
          </a:p>
        </p:txBody>
      </p:sp>
      <p:sp>
        <p:nvSpPr>
          <p:cNvPr id="5" name="TextBox 4"/>
          <p:cNvSpPr txBox="1"/>
          <p:nvPr/>
        </p:nvSpPr>
        <p:spPr>
          <a:xfrm>
            <a:off x="822960" y="1508760"/>
            <a:ext cx="6309360" cy="4663440"/>
          </a:xfrm>
          <a:prstGeom prst="rect">
            <a:avLst/>
          </a:prstGeom>
          <a:noFill/>
        </p:spPr>
        <p:txBody>
          <a:bodyPr wrap="square">
            <a:spAutoFit/>
          </a:bodyPr>
          <a:lstStyle/>
          <a:p>
            <a:pPr algn="l">
              <a:spcAft>
                <a:spcPts val="1000"/>
              </a:spcAft>
              <a:defRPr sz="2000" b="0">
                <a:solidFill>
                  <a:srgbClr val="1C1C1C"/>
                </a:solidFill>
                <a:latin typeface="Calibri"/>
              </a:defRPr>
            </a:pPr>
            <a:r>
              <a:t>•  CEA keeps health in health units (QALYs, cases)</a:t>
            </a:r>
          </a:p>
          <a:p>
            <a:pPr algn="l">
              <a:spcAft>
                <a:spcPts val="1000"/>
              </a:spcAft>
              <a:defRPr sz="2000" b="0">
                <a:solidFill>
                  <a:srgbClr val="1C1C1C"/>
                </a:solidFill>
                <a:latin typeface="Calibri"/>
              </a:defRPr>
            </a:pPr>
            <a:r>
              <a:t>•  ROI / benefit-cost puts benefits in dollars</a:t>
            </a:r>
          </a:p>
          <a:p>
            <a:pPr algn="l">
              <a:spcAft>
                <a:spcPts val="600"/>
              </a:spcAft>
              <a:defRPr sz="1900" b="0">
                <a:solidFill>
                  <a:srgbClr val="424242"/>
                </a:solidFill>
                <a:latin typeface="Calibri"/>
              </a:defRPr>
            </a:pPr>
            <a:r>
              <a:t>       –  dollars returned per dollar spent (e.g., $67–88)</a:t>
            </a:r>
          </a:p>
          <a:p>
            <a:pPr algn="l">
              <a:spcAft>
                <a:spcPts val="1000"/>
              </a:spcAft>
              <a:defRPr sz="2000" b="0">
                <a:solidFill>
                  <a:srgbClr val="1C1C1C"/>
                </a:solidFill>
                <a:latin typeface="Calibri"/>
              </a:defRPr>
            </a:pPr>
            <a:r>
              <a:t>•  Strength: one currency, easy to communicate</a:t>
            </a:r>
          </a:p>
          <a:p>
            <a:pPr algn="l">
              <a:spcAft>
                <a:spcPts val="1000"/>
              </a:spcAft>
              <a:defRPr sz="2000" b="0">
                <a:solidFill>
                  <a:srgbClr val="1C1C1C"/>
                </a:solidFill>
                <a:latin typeface="Calibri"/>
              </a:defRPr>
            </a:pPr>
            <a:r>
              <a:t>•  Cost: monetizing health requires assumptions</a:t>
            </a:r>
          </a:p>
          <a:p>
            <a:pPr algn="l">
              <a:spcAft>
                <a:spcPts val="600"/>
              </a:spcAft>
              <a:defRPr sz="1900" b="0">
                <a:solidFill>
                  <a:srgbClr val="424242"/>
                </a:solidFill>
                <a:latin typeface="Calibri"/>
              </a:defRPr>
            </a:pPr>
            <a:r>
              <a:t>       –  how much is a life-year worth in dollars?</a:t>
            </a:r>
          </a:p>
          <a:p>
            <a:pPr algn="l">
              <a:spcAft>
                <a:spcPts val="1000"/>
              </a:spcAft>
              <a:defRPr sz="2000" b="0">
                <a:solidFill>
                  <a:srgbClr val="1C1C1C"/>
                </a:solidFill>
                <a:latin typeface="Calibri"/>
              </a:defRPr>
            </a:pPr>
            <a:r>
              <a:t>•  Choose the framing the audience trusts</a:t>
            </a:r>
          </a:p>
        </p:txBody>
      </p:sp>
      <p:pic>
        <p:nvPicPr>
          <p:cNvPr id="6" name="Picture 5" descr="roi-concept-audiences.png"/>
          <p:cNvPicPr>
            <a:picLocks noChangeAspect="1"/>
          </p:cNvPicPr>
          <p:nvPr/>
        </p:nvPicPr>
        <p:blipFill>
          <a:blip r:embed="rId2"/>
          <a:stretch>
            <a:fillRect/>
          </a:stretch>
        </p:blipFill>
        <p:spPr>
          <a:xfrm>
            <a:off x="7360920" y="1600200"/>
            <a:ext cx="4206240" cy="420624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A77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881360" cy="960120"/>
          </a:xfrm>
          <a:prstGeom prst="rect">
            <a:avLst/>
          </a:prstGeom>
          <a:noFill/>
        </p:spPr>
        <p:txBody>
          <a:bodyPr wrap="square">
            <a:spAutoFit/>
          </a:bodyPr>
          <a:lstStyle/>
          <a:p>
            <a:pPr algn="l">
              <a:defRPr sz="2800" b="1">
                <a:solidFill>
                  <a:srgbClr val="003080"/>
                </a:solidFill>
                <a:latin typeface="Calibri"/>
              </a:defRPr>
            </a:pPr>
            <a:r>
              <a:t>The Foundation: Does It Actually Cause the Outcome?</a:t>
            </a:r>
          </a:p>
        </p:txBody>
      </p:sp>
      <p:sp>
        <p:nvSpPr>
          <p:cNvPr id="5" name="TextBox 4"/>
          <p:cNvSpPr txBox="1"/>
          <p:nvPr/>
        </p:nvSpPr>
        <p:spPr>
          <a:xfrm>
            <a:off x="822960" y="1508760"/>
            <a:ext cx="10607040" cy="4663440"/>
          </a:xfrm>
          <a:prstGeom prst="rect">
            <a:avLst/>
          </a:prstGeom>
          <a:noFill/>
        </p:spPr>
        <p:txBody>
          <a:bodyPr wrap="square">
            <a:spAutoFit/>
          </a:bodyPr>
          <a:lstStyle/>
          <a:p>
            <a:pPr algn="l">
              <a:spcAft>
                <a:spcPts val="1000"/>
              </a:spcAft>
              <a:defRPr sz="2000" b="0">
                <a:solidFill>
                  <a:srgbClr val="1C1C1C"/>
                </a:solidFill>
                <a:latin typeface="Calibri"/>
              </a:defRPr>
            </a:pPr>
            <a:r>
              <a:t>•  Every ROI and ICER rests on a causal claim</a:t>
            </a:r>
          </a:p>
          <a:p>
            <a:pPr algn="l">
              <a:spcAft>
                <a:spcPts val="600"/>
              </a:spcAft>
              <a:defRPr sz="1900" b="0">
                <a:solidFill>
                  <a:srgbClr val="424242"/>
                </a:solidFill>
                <a:latin typeface="Calibri"/>
              </a:defRPr>
            </a:pPr>
            <a:r>
              <a:t>       –  the program caused the improvement</a:t>
            </a:r>
          </a:p>
          <a:p>
            <a:pPr algn="l">
              <a:spcAft>
                <a:spcPts val="1000"/>
              </a:spcAft>
              <a:defRPr sz="2000" b="0">
                <a:solidFill>
                  <a:srgbClr val="1C1C1C"/>
                </a:solidFill>
                <a:latin typeface="Calibri"/>
              </a:defRPr>
            </a:pPr>
            <a:r>
              <a:t>•  Study designs differ in how well they isolate that</a:t>
            </a:r>
          </a:p>
          <a:p>
            <a:pPr algn="l">
              <a:spcAft>
                <a:spcPts val="600"/>
              </a:spcAft>
              <a:defRPr sz="1900" b="0">
                <a:solidFill>
                  <a:srgbClr val="424242"/>
                </a:solidFill>
                <a:latin typeface="Calibri"/>
              </a:defRPr>
            </a:pPr>
            <a:r>
              <a:t>       –  RCTs and strong quasi-experiments at the top</a:t>
            </a:r>
          </a:p>
          <a:p>
            <a:pPr algn="l">
              <a:spcAft>
                <a:spcPts val="600"/>
              </a:spcAft>
              <a:defRPr sz="1900" b="0">
                <a:solidFill>
                  <a:srgbClr val="424242"/>
                </a:solidFill>
                <a:latin typeface="Calibri"/>
              </a:defRPr>
            </a:pPr>
            <a:r>
              <a:t>       –  simple before-after near the bottom</a:t>
            </a:r>
          </a:p>
          <a:p>
            <a:pPr algn="l">
              <a:spcAft>
                <a:spcPts val="1000"/>
              </a:spcAft>
              <a:defRPr sz="2000" b="0">
                <a:solidFill>
                  <a:srgbClr val="1C1C1C"/>
                </a:solidFill>
                <a:latin typeface="Calibri"/>
              </a:defRPr>
            </a:pPr>
            <a:r>
              <a:t>•  Common traps: confounding, selection,</a:t>
            </a:r>
          </a:p>
          <a:p>
            <a:pPr algn="l">
              <a:spcAft>
                <a:spcPts val="600"/>
              </a:spcAft>
              <a:defRPr sz="1900" b="0">
                <a:solidFill>
                  <a:srgbClr val="424242"/>
                </a:solidFill>
                <a:latin typeface="Calibri"/>
              </a:defRPr>
            </a:pPr>
            <a:r>
              <a:t>       –  regression to the mean, the before-after trap</a:t>
            </a:r>
          </a:p>
        </p:txBody>
      </p:sp>
      <p:sp>
        <p:nvSpPr>
          <p:cNvPr id="6" name="TextBox 5"/>
          <p:cNvSpPr txBox="1"/>
          <p:nvPr/>
        </p:nvSpPr>
        <p:spPr>
          <a:xfrm>
            <a:off x="640080" y="6355080"/>
            <a:ext cx="10881360" cy="411480"/>
          </a:xfrm>
          <a:prstGeom prst="rect">
            <a:avLst/>
          </a:prstGeom>
          <a:noFill/>
        </p:spPr>
        <p:txBody>
          <a:bodyPr wrap="square">
            <a:spAutoFit/>
          </a:bodyPr>
          <a:lstStyle/>
          <a:p>
            <a:pPr algn="l">
              <a:defRPr sz="1300" b="0">
                <a:solidFill>
                  <a:srgbClr val="424242"/>
                </a:solidFill>
                <a:latin typeface="Calibri"/>
              </a:defRPr>
            </a:pPr>
            <a:r>
              <a:t>Methods Lab: Study Design Hierarchy for Causal Inference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A77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ea-cta-community.png"/>
          <p:cNvPicPr>
            <a:picLocks noChangeAspect="1"/>
          </p:cNvPicPr>
          <p:nvPr/>
        </p:nvPicPr>
        <p:blipFill>
          <a:blip r:embed="rId2"/>
          <a:stretch>
            <a:fillRect/>
          </a:stretch>
        </p:blipFill>
        <p:spPr>
          <a:xfrm>
            <a:off x="4818888" y="914400"/>
            <a:ext cx="2560320" cy="2560320"/>
          </a:xfrm>
          <a:prstGeom prst="rect">
            <a:avLst/>
          </a:prstGeom>
        </p:spPr>
      </p:pic>
      <p:sp>
        <p:nvSpPr>
          <p:cNvPr id="5" name="TextBox 4"/>
          <p:cNvSpPr txBox="1"/>
          <p:nvPr/>
        </p:nvSpPr>
        <p:spPr>
          <a:xfrm>
            <a:off x="914400" y="3657600"/>
            <a:ext cx="10360152" cy="1097280"/>
          </a:xfrm>
          <a:prstGeom prst="rect">
            <a:avLst/>
          </a:prstGeom>
          <a:noFill/>
        </p:spPr>
        <p:txBody>
          <a:bodyPr wrap="square" anchor="ctr">
            <a:spAutoFit/>
          </a:bodyPr>
          <a:lstStyle/>
          <a:p>
            <a:pPr algn="ctr">
              <a:defRPr sz="4000" b="1">
                <a:solidFill>
                  <a:srgbClr val="003080"/>
                </a:solidFill>
                <a:latin typeface="Calibri"/>
              </a:defRPr>
            </a:pPr>
            <a:r>
              <a:t>Thank You</a:t>
            </a:r>
          </a:p>
        </p:txBody>
      </p:sp>
      <p:sp>
        <p:nvSpPr>
          <p:cNvPr id="6" name="TextBox 5"/>
          <p:cNvSpPr txBox="1"/>
          <p:nvPr/>
        </p:nvSpPr>
        <p:spPr>
          <a:xfrm>
            <a:off x="914400" y="4754880"/>
            <a:ext cx="10360152" cy="1463040"/>
          </a:xfrm>
          <a:prstGeom prst="rect">
            <a:avLst/>
          </a:prstGeom>
          <a:noFill/>
        </p:spPr>
        <p:txBody>
          <a:bodyPr wrap="square">
            <a:spAutoFit/>
          </a:bodyPr>
          <a:lstStyle/>
          <a:p>
            <a:pPr algn="ctr">
              <a:spcAft>
                <a:spcPts val="800"/>
              </a:spcAft>
              <a:defRPr sz="2200" b="0">
                <a:solidFill>
                  <a:srgbClr val="424242"/>
                </a:solidFill>
                <a:latin typeface="Calibri"/>
              </a:defRPr>
            </a:pPr>
            <a:r>
              <a:t>Questions?</a:t>
            </a:r>
          </a:p>
          <a:p>
            <a:pPr algn="ctr">
              <a:spcAft>
                <a:spcPts val="800"/>
              </a:spcAft>
              <a:defRPr sz="2000" b="0">
                <a:solidFill>
                  <a:srgbClr val="424242"/>
                </a:solidFill>
                <a:latin typeface="Calibri"/>
              </a:defRPr>
            </a:pPr>
            <a:r>
              <a:t>caphegroup.org  ·  info@caphegroup.org</a:t>
            </a:r>
          </a:p>
          <a:p>
            <a:pPr algn="ctr">
              <a:spcAft>
                <a:spcPts val="800"/>
              </a:spcAft>
              <a:defRPr sz="2000" b="0">
                <a:solidFill>
                  <a:srgbClr val="424242"/>
                </a:solidFill>
                <a:latin typeface="Calibri"/>
              </a:defRPr>
            </a:pPr>
            <a:r>
              <a:t>Methods Lab  ·  Monthly peer review sessions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