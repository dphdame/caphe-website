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8"/>
  </p:normalViewPr>
  <p:slideViewPr>
    <p:cSldViewPr snapToGrid="0" snapToObjects="1">
      <p:cViewPr varScale="1">
        <p:scale>
          <a:sx n="88" d="100"/>
          <a:sy n="88" d="100"/>
        </p:scale>
        <p:origin x="20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080"/>
                </a:solidFill>
              </a:defRPr>
            </a:pPr>
            <a:r>
              <a:t>CAPHE</a:t>
            </a:r>
          </a:p>
          <a:p>
            <a:pPr algn="ctr">
              <a:defRPr sz="2000">
                <a:solidFill>
                  <a:srgbClr val="424242"/>
                </a:solidFill>
              </a:defRPr>
            </a:pPr>
            <a:r>
              <a:t>California Association of Public Health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Return on Investment</a:t>
            </a:r>
            <a:br/>
            <a:r>
              <a:t>in Public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A770D"/>
                </a:solidFill>
              </a:defRPr>
            </a:pPr>
            <a:r>
              <a:t>Free Webinar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0352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June 11, 2026 · 12:00 PM PT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Public Health Is an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C1C1C"/>
                </a:solidFill>
              </a:defRPr>
            </a:pPr>
            <a:r>
              <a:t>Every dollar spent on public health generates returns. Healthcare savings. Productivity gains. Reduced emergency costs. Stronger communities.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770D"/>
                </a:solidFill>
              </a:defRPr>
            </a:pPr>
            <a:r>
              <a:t>Example:</a:t>
            </a:r>
          </a:p>
          <a:p>
            <a:pPr>
              <a:spcBef>
                <a:spcPts val="600"/>
              </a:spcBef>
              <a:defRPr sz="1800">
                <a:solidFill>
                  <a:srgbClr val="424242"/>
                </a:solidFill>
              </a:defRPr>
            </a:pPr>
            <a:r>
              <a:t>The question isn't whether to spend on public health. It's how to show stakeholders the value of what we do.</a:t>
            </a:r>
          </a:p>
        </p:txBody>
      </p:sp>
      <p:pic>
        <p:nvPicPr>
          <p:cNvPr id="7" name="Picture 6" descr="roi-concept-inves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Building on What We've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February: Economic thinking in public health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Scarcity, opportunity cost, trade-offs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April: Cost-effectiveness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ICER, QALYs, decision thresholds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Today: Return on Investment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Making the financial case for public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Recordings of earlier sessions available at caphegroup.org/programs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Understand what ROI means in a public health context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Learn to calculate and interpret ROI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See examples of high-ROI public health investments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Know when ROI is the right metric (and when it isn't)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Build skills to communicate value to budget decision-makers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1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A770D"/>
                </a:solidFill>
              </a:defRPr>
            </a:pPr>
            <a:r>
              <a:t>What is Return on Investment?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Return on Investment (ROI)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C1C1C"/>
                </a:solidFill>
              </a:defRPr>
            </a:pPr>
            <a:r>
              <a:t>ROI measures the financial return generated by an investment, expressed as a ratio or percentage. It answers: "For every dollar we spend, how many dollars do we get back?"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770D"/>
                </a:solidFill>
              </a:defRPr>
            </a:pPr>
            <a:r>
              <a:t>Example:</a:t>
            </a:r>
          </a:p>
          <a:p>
            <a:pPr>
              <a:spcBef>
                <a:spcPts val="600"/>
              </a:spcBef>
              <a:defRPr sz="1800">
                <a:solidFill>
                  <a:srgbClr val="424242"/>
                </a:solidFill>
              </a:defRPr>
            </a:pPr>
            <a:r>
              <a:t>An ROI of 5:1 means every $1 invested generates $5 in returns. That's a 400% return on investment.</a:t>
            </a:r>
          </a:p>
        </p:txBody>
      </p:sp>
      <p:pic>
        <p:nvPicPr>
          <p:cNvPr id="7" name="Picture 6" descr="roi-concept-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The ROI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E7D32"/>
                </a:solidFill>
              </a:defRPr>
            </a:pPr>
            <a:r>
              <a:t>ROI = (Returns − Investment) ÷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Returns: Total value generated (savings, avoided costs, productivity)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Investment: Total cost of the program or intervention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Result: Expressed as ratio (5:1) or percentage (400%)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Positive ROI means the program pays for itself and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Also expressed as: ROI = Net Benefits ÷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ROI vs. Cost-Effectiveness: Different Questions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003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003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Cost-Effectiveness</a:t>
                      </a:r>
                    </a:p>
                  </a:txBody>
                  <a:tcPr>
                    <a:solidFill>
                      <a:srgbClr val="003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"Does this pay for itself?"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"What's the best health value?"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Dollars returned per dollar spent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Cost per health outcome (QALY, life saved)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Budget justification, elected officials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Comparing health interventions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Requires monetizing all benefits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1C1C"/>
                          </a:solidFill>
                        </a:defRPr>
                      </a:pPr>
                      <a:r>
                        <a:t>Doesn't show if affordable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Both are valuable. Choose based on your audience and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What Counts as "Returns"?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Healthcare cost savings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Avoided hospitalizations, ER visits, treatments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Productivity gains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Fewer sick days, longer working lives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Reduced public program costs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Less Medicaid spending, fewer disability claims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Avoided emergency response costs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Prevented outbreaks, reduced crisis management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Economic multiplier effects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Healthier workforce, stronger local economy</a:t>
            </a:r>
          </a:p>
        </p:txBody>
      </p:sp>
      <p:pic>
        <p:nvPicPr>
          <p:cNvPr id="5" name="Picture 4" descr="roi-concept-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2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A770D"/>
                </a:solidFill>
              </a:defRPr>
            </a:pPr>
            <a:r>
              <a:t>ROI in Action: California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California Tobacco Control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424242"/>
                </a:solidFill>
              </a:defRPr>
            </a:pPr>
            <a:r>
              <a:t>Prop 99-funded comprehensive tobacco prevention (1989-2004)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080"/>
                </a:solidFill>
              </a:defRPr>
            </a:pPr>
            <a:r>
              <a:t>INVESTMENT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0292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080"/>
                </a:solidFill>
              </a:defRPr>
            </a:pPr>
            <a:r>
              <a:t>$1.8 billion over 15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• $86 billion in healthcare savings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1+ million life-years saved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33% decline in adult smoking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Model for national and global programs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389120"/>
            <a:ext cx="6901543" cy="1005840"/>
          </a:xfrm>
          <a:prstGeom prst="round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3952" y="457200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ROI: $48 returned for every $1 invested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Source: Lightwood &amp; Glantz, PLOS Medicine 2013</a:t>
            </a:r>
          </a:p>
        </p:txBody>
      </p:sp>
      <p:pic>
        <p:nvPicPr>
          <p:cNvPr id="14" name="Picture 13" descr="roi-example-califor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Childhood Immunization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424242"/>
                </a:solidFill>
              </a:defRPr>
            </a:pPr>
            <a:r>
              <a:t>Routine childhood vaccination (national estimates, applicable to 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080"/>
                </a:solidFill>
              </a:defRPr>
            </a:pPr>
            <a:r>
              <a:t>INVESTMENT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0292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080"/>
                </a:solidFill>
              </a:defRPr>
            </a:pPr>
            <a:r>
              <a:t>~$10 billion annually (US)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• $69 billion in direct medical savings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$244 billion in total societal savings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21 million hospitalizations prevented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Eliminates or controls 14 diseases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389120"/>
            <a:ext cx="6799943" cy="1097280"/>
          </a:xfrm>
          <a:prstGeom prst="round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457200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ROI: $7-$24 returned for every $1 invested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Source: Zhou et al., Pediatrics 2014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Diabetes Prevention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424242"/>
                </a:solidFill>
              </a:defRPr>
            </a:pPr>
            <a:r>
              <a:t>CDC-recognized lifestyle change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080"/>
                </a:solidFill>
              </a:defRPr>
            </a:pPr>
            <a:r>
              <a:t>INVESTMENT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0292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080"/>
                </a:solidFill>
              </a:defRPr>
            </a:pPr>
            <a:r>
              <a:t>~$500 per 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• 58% reduction in diabetes incidence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$2,650 savings per participant (3 years)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Reduced medication costs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Fewer complications, hospitalizations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2572" y="4389120"/>
            <a:ext cx="6923314" cy="1097280"/>
          </a:xfrm>
          <a:prstGeom prst="round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457200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ROI: $5 returned for every $1 invested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Source: Diabetes Prevention Program Research Group; CMS Medicare DPP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Lead Poisoning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424242"/>
                </a:solidFill>
              </a:defRPr>
            </a:pPr>
            <a:r>
              <a:t>Lead hazard control and screening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080"/>
                </a:solidFill>
              </a:defRPr>
            </a:pPr>
            <a:r>
              <a:t>INVESTMENT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0292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080"/>
                </a:solidFill>
              </a:defRPr>
            </a:pPr>
            <a:r>
              <a:t>$1-2 billion annually (national)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• $50 billion in lifetime earnings preserved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Reduced special education costs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Lower criminal justice involvement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Prevented cognitive impairment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113" y="4389120"/>
            <a:ext cx="7924801" cy="1097280"/>
          </a:xfrm>
          <a:prstGeom prst="round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457200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ROI: $17-$221 returned for every $1 invested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Source: Gould, Environmental Health Perspectives 2009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The Pattern: Prevention Pays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Upstream investments yield downstream savings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Returns often exceed 5:1 or 10:1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Benefits extend beyond healthcare to productivity and society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Long time horizons favor prevention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Tobacco: 15-year analysis showed massive returns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Lead: Lifetime earnings gains from childhood intervention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Public health generates returns that private markets miss</a:t>
            </a:r>
          </a:p>
        </p:txBody>
      </p:sp>
      <p:pic>
        <p:nvPicPr>
          <p:cNvPr id="5" name="Picture 4" descr="roi-concept-prevention-p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3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A770D"/>
                </a:solidFill>
              </a:defRPr>
            </a:pPr>
            <a:r>
              <a:t>Calculating ROI for Your Programs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Steps to Calculate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1. Define your investment clearly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All program costs: staff, materials, overhead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2. Identify all relevant returns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Healthcare savings, productivity, avoided costs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3. Gather data or use credible estimates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Published studies, local data, reasonable assumptions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4. Choose your time horizon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Longer horizons capture more returns but add uncertainty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5. Calculate and present with transparency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Show your assumptions, report ranges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Where to Find Return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Published ROI studies on similar programs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County Health Rankings evidence database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Community Guide (thecommunityguide.org)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Local healthcare cost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Hospital discharge data, Medicaid claims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National estimates adapted to local context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CDC, CMS, peer-reviewed literature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Economic models and calculators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Prevention ROI calculators (various sources)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Common Challenges in 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Monetizing health outcomes is difficult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What's a life worth? A prevented disease?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Benefits may accrue to different payers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You invest, insurance company saves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Time lags between investment and returns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Prevention today, savings in 10 years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Attribution is imperfect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How much of the improvement came from our program?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Conservative estimates may understate value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Societal benefits often excluded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When ROI Isn't the Right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Some programs matter even without positive ROI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Rare disease services, end-of-life care, equity programs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Not all benefits can be monetized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Dignity, peace of mind, community trust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ROI favors programs with measurable cost savings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May undervalue prevention of suffering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Different stakeholders value different things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Use ROI alongside equity and health impact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ROI is a tool, not a decision-maker. It's one input among many.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4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A770D"/>
                </a:solidFill>
              </a:defRPr>
            </a:pPr>
            <a:r>
              <a:t>Making the Case to Decision-Makers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Speaking to Your 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303520" cy="4114800"/>
          </a:xfrm>
          <a:prstGeom prst="roundRect">
            <a:avLst/>
          </a:prstGeom>
          <a:solidFill>
            <a:srgbClr val="E3F2FD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080"/>
                </a:solidFill>
              </a:defRPr>
            </a:pPr>
            <a:r>
              <a:t>Health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Focus on health outcomes first</a:t>
            </a:r>
          </a:p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ROI supports the mission</a:t>
            </a:r>
          </a:p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Use alongside CEA and equity</a:t>
            </a:r>
          </a:p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"This investment saves lives AND money"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303520" cy="41148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Budget Officers &amp; Electeds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Lead with financial returns</a:t>
            </a:r>
          </a:p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Show avoided costs clearly</a:t>
            </a:r>
          </a:p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Compare to other investments</a:t>
            </a:r>
          </a:p>
          <a:p>
            <a:pPr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• "Every $1 invested returns $X"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6072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DA770D"/>
                </a:solidFill>
              </a:defRPr>
            </a:pPr>
            <a:r>
              <a:t>Same data, different framing. Know your audience.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Building a Compelling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Lead with the bottom line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"This program returns $5 for every $1 invested"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Show where the savings go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Healthcare system, county budget, employers, families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Use local examples when possible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"In our county, this would mean..."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Acknowledge uncertainty honestly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"Estimates range from X to Y"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Connect to priorities they care about</a:t>
            </a:r>
          </a:p>
          <a:p>
            <a:pPr lvl="1">
              <a:spcAft>
                <a:spcPts val="1200"/>
              </a:spcAft>
              <a:defRPr sz="1800">
                <a:solidFill>
                  <a:srgbClr val="1C1C1C"/>
                </a:solidFill>
              </a:defRPr>
            </a:pPr>
            <a:r>
              <a:t>    Budget stability, workforce health, crisis prevention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0"/>
                </a:solidFill>
              </a:defRPr>
            </a:pPr>
            <a:r>
              <a:t>The One-Page ROI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rPr dirty="0"/>
              <a:t>1. The Ask: What you're proposing and the investment needed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rPr dirty="0"/>
              <a:t>2. The Return: Estimated ROI ratio and key benefits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rPr dirty="0"/>
              <a:t>3. The Evidence: Where the numbers come from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rPr dirty="0"/>
              <a:t>4. The Timeline: When returns will be realized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rPr dirty="0"/>
              <a:t>5. The Risk: What happens if we don't invest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rPr dirty="0"/>
              <a:t>6. The Comparison: How this stacks up to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Template available in CAPHE Methods Lab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080"/>
                </a:solidFill>
              </a:defRPr>
            </a:pPr>
            <a:r>
              <a:t>Stay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24242"/>
                </a:solidFill>
              </a:defRPr>
            </a:pPr>
            <a:r>
              <a:t>Continue building your health economics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A770D"/>
                </a:solidFill>
              </a:defRPr>
            </a:pPr>
            <a:r>
              <a:t>Practice in Methods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Interactive labs on ROI calculation, building the business case, and presenting to stakeholders.</a:t>
            </a:r>
          </a:p>
          <a:p>
            <a:pPr>
              <a:spcBef>
                <a:spcPts val="1200"/>
              </a:spcBef>
              <a:defRPr sz="1600" b="1">
                <a:solidFill>
                  <a:srgbClr val="003080"/>
                </a:solidFill>
              </a:defRPr>
            </a:pPr>
            <a:r>
              <a:t>caphegroup.org/methods-lab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103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A770D"/>
                </a:solidFill>
              </a:defRPr>
            </a:pPr>
            <a:r>
              <a:t>Get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6517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Bring your ROI analyses to monthly peer review sessions for expert feedback.</a:t>
            </a:r>
          </a:p>
          <a:p>
            <a:pPr>
              <a:spcBef>
                <a:spcPts val="1200"/>
              </a:spcBef>
              <a:defRPr sz="1600" b="1">
                <a:solidFill>
                  <a:srgbClr val="003080"/>
                </a:solidFill>
              </a:defRPr>
            </a:pPr>
            <a:r>
              <a:t>info@caphegroup.org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03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A770D"/>
                </a:solidFill>
              </a:defRPr>
            </a:pPr>
            <a:r>
              <a:t>Review the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6517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Missed earlier sessions? Recordings available for Feb (Intro) and April (CEA).</a:t>
            </a:r>
          </a:p>
          <a:p>
            <a:pPr>
              <a:spcBef>
                <a:spcPts val="1200"/>
              </a:spcBef>
              <a:defRPr sz="1600" b="1">
                <a:solidFill>
                  <a:srgbClr val="003080"/>
                </a:solidFill>
              </a:defRPr>
            </a:pPr>
            <a:r>
              <a:t>caphegroup.org/programs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10820095" cy="1645920"/>
          </a:xfrm>
          <a:prstGeom prst="roundRect">
            <a:avLst/>
          </a:prstGeom>
          <a:solidFill>
            <a:srgbClr val="F0F4F8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080"/>
                </a:solidFill>
              </a:defRPr>
            </a:pPr>
            <a:r>
              <a:t>2026 Webinar Series Complete!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Feb: Intro to Health Economics  •  April: Cost-Effectiveness Basics  •  June: Return on Investment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Public health is an investment,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A770D"/>
                </a:solidFill>
              </a:defRPr>
            </a:pPr>
            <a:r>
              <a:t>not just an expense.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200">
                <a:solidFill>
                  <a:srgbClr val="CCDDEE"/>
                </a:solidFill>
              </a:defRPr>
            </a:pPr>
            <a:r>
              <a:t>caphegroup.org</a:t>
            </a:r>
          </a:p>
          <a:p>
            <a:pPr algn="ctr">
              <a:spcAft>
                <a:spcPts val="800"/>
              </a:spcAft>
              <a:defRPr sz="2200">
                <a:solidFill>
                  <a:srgbClr val="CCDDEE"/>
                </a:solidFill>
              </a:defRPr>
            </a:pPr>
            <a:r>
              <a:t>info@caphegroup.org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1467</Words>
  <Application>Microsoft Macintosh PowerPoint</Application>
  <PresentationFormat>Widescreen</PresentationFormat>
  <Paragraphs>214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Perez, Victoria</cp:lastModifiedBy>
  <cp:revision>2</cp:revision>
  <dcterms:created xsi:type="dcterms:W3CDTF">2013-01-27T09:14:16Z</dcterms:created>
  <dcterms:modified xsi:type="dcterms:W3CDTF">2026-01-31T06:41:55Z</dcterms:modified>
  <cp:category/>
</cp:coreProperties>
</file>